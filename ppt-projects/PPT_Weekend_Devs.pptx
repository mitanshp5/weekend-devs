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07" r:id="rId2"/>
    <p:sldId id="323" r:id="rId3"/>
    <p:sldId id="324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</p:sldIdLst>
  <p:sldSz cx="18288000" cy="10287000"/>
  <p:notesSz cx="6858000" cy="9144000"/>
  <p:embeddedFontLst>
    <p:embeddedFont>
      <p:font typeface="Comic Sans MS" panose="030F0702030302020204" pitchFamily="66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74D2E-7476-4C13-B00C-44AEA14D31EF}" v="6" dt="2026-07-24T13:55:37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ansh Prajapati" userId="9abcde903fa3f8ca" providerId="LiveId" clId="{CE1C5043-A085-442F-8739-F59DBF4BF8AC}"/>
    <pc:docChg chg="modSld">
      <pc:chgData name="Mitansh Prajapati" userId="9abcde903fa3f8ca" providerId="LiveId" clId="{CE1C5043-A085-442F-8739-F59DBF4BF8AC}" dt="2026-07-24T13:55:37.012" v="5"/>
      <pc:docMkLst>
        <pc:docMk/>
      </pc:docMkLst>
      <pc:sldChg chg="modAnim">
        <pc:chgData name="Mitansh Prajapati" userId="9abcde903fa3f8ca" providerId="LiveId" clId="{CE1C5043-A085-442F-8739-F59DBF4BF8AC}" dt="2026-07-24T13:55:37.012" v="5"/>
        <pc:sldMkLst>
          <pc:docMk/>
          <pc:sldMk cId="1137504173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35ACC-43D2-4344-AE4A-8DE31B6D78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E7989-70D5-48FB-83A3-3F720FE67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8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itanshp5/Weekend-Dev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itanshp5/Weekend-Dev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A36649-5325-4AE6-8B80-10AF8120A5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E12A3-7D9B-4972-8B96-34C50BFE3F06}"/>
              </a:ext>
            </a:extLst>
          </p:cNvPr>
          <p:cNvSpPr txBox="1"/>
          <p:nvPr/>
        </p:nvSpPr>
        <p:spPr>
          <a:xfrm>
            <a:off x="863600" y="609600"/>
            <a:ext cx="825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A9E5C1"/>
                </a:solidFill>
                <a:latin typeface="Arial"/>
                <a:cs typeface="Arial"/>
              </a:rPr>
              <a:t>TETRATHON 2026 · EDTECH TRACK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3529E-5453-4597-A145-70B576E99CD9}"/>
              </a:ext>
            </a:extLst>
          </p:cNvPr>
          <p:cNvSpPr txBox="1"/>
          <p:nvPr/>
        </p:nvSpPr>
        <p:spPr>
          <a:xfrm>
            <a:off x="863600" y="1320800"/>
            <a:ext cx="7874000" cy="1117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6200" b="1">
                <a:solidFill>
                  <a:srgbClr val="FFFFFF"/>
                </a:solidFill>
                <a:latin typeface="Arial"/>
                <a:cs typeface="Arial"/>
              </a:rPr>
              <a:t>PRISM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284E33-9C1E-4ACD-9E7B-9E83C2AAB7A3}"/>
              </a:ext>
            </a:extLst>
          </p:cNvPr>
          <p:cNvSpPr txBox="1"/>
          <p:nvPr/>
        </p:nvSpPr>
        <p:spPr>
          <a:xfrm>
            <a:off x="914400" y="2438400"/>
            <a:ext cx="8509000" cy="1041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>
                <a:solidFill>
                  <a:srgbClr val="D8E7DF"/>
                </a:solidFill>
                <a:latin typeface="Arial"/>
                <a:cs typeface="Arial"/>
              </a:rPr>
              <a:t>Personalized Remediation and Intelligent
Scaffolding for Mastery</a:t>
            </a:r>
            <a:endParaRPr lang="en-IN" sz="2600">
              <a:solidFill>
                <a:srgbClr val="D8E7DF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F03A5-665F-4816-AC80-B01F8519E8AC}"/>
              </a:ext>
            </a:extLst>
          </p:cNvPr>
          <p:cNvSpPr txBox="1"/>
          <p:nvPr/>
        </p:nvSpPr>
        <p:spPr>
          <a:xfrm>
            <a:off x="914400" y="4140200"/>
            <a:ext cx="8509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2C94C"/>
                </a:solidFill>
                <a:latin typeface="Arial"/>
                <a:cs typeface="Arial"/>
              </a:rPr>
              <a:t>From “I am stuck” to a clear next step.</a:t>
            </a:r>
            <a:endParaRPr lang="en-IN" sz="2800" b="1">
              <a:solidFill>
                <a:srgbClr val="F2C94C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D9B63-088C-4747-A2DA-4E624B7A9362}"/>
              </a:ext>
            </a:extLst>
          </p:cNvPr>
          <p:cNvSpPr txBox="1"/>
          <p:nvPr/>
        </p:nvSpPr>
        <p:spPr>
          <a:xfrm>
            <a:off x="914400" y="5143500"/>
            <a:ext cx="85090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Adaptive microlearning + evidence-grounded doubt resolution
for mixed-ability Grade 8 classrooms.</a:t>
            </a:r>
            <a:endParaRPr lang="en-IN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93EEB-04CE-4800-BE18-654FFB1FED57}"/>
              </a:ext>
            </a:extLst>
          </p:cNvPr>
          <p:cNvSpPr txBox="1"/>
          <p:nvPr/>
        </p:nvSpPr>
        <p:spPr>
          <a:xfrm>
            <a:off x="914400" y="8661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TEAM WEEKEND DEVS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33923D-5BBB-4289-95E3-3C0F30484C4B}"/>
              </a:ext>
            </a:extLst>
          </p:cNvPr>
          <p:cNvSpPr txBox="1"/>
          <p:nvPr/>
        </p:nvSpPr>
        <p:spPr>
          <a:xfrm>
            <a:off x="914400" y="8991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>
                <a:solidFill>
                  <a:srgbClr val="C8DDD3"/>
                </a:solidFill>
                <a:latin typeface="Arial"/>
                <a:cs typeface="Arial"/>
              </a:rPr>
              <a:t>Mitansh Prajapati · Aryan Motiani · Dweep Desai · Pranshul Soni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300447-ECC4-4101-AEAF-026746445203}"/>
              </a:ext>
            </a:extLst>
          </p:cNvPr>
          <p:cNvSpPr/>
          <p:nvPr/>
        </p:nvSpPr>
        <p:spPr>
          <a:xfrm>
            <a:off x="11303000" y="787400"/>
            <a:ext cx="5969000" cy="67310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365E9-7F83-4940-9049-3365BE39BEDF}"/>
              </a:ext>
            </a:extLst>
          </p:cNvPr>
          <p:cNvSpPr/>
          <p:nvPr/>
        </p:nvSpPr>
        <p:spPr>
          <a:xfrm>
            <a:off x="11303000" y="787400"/>
            <a:ext cx="59690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B1627-5E9B-4EC7-87FF-4864126FD97F}"/>
              </a:ext>
            </a:extLst>
          </p:cNvPr>
          <p:cNvSpPr/>
          <p:nvPr/>
        </p:nvSpPr>
        <p:spPr>
          <a:xfrm>
            <a:off x="11303000" y="7874000"/>
            <a:ext cx="5969000" cy="12700"/>
          </a:xfrm>
          <a:prstGeom prst="rect">
            <a:avLst/>
          </a:prstGeom>
          <a:solidFill>
            <a:srgbClr val="41725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hlinkClick r:id="rId2"/>
            <a:extLst>
              <a:ext uri="{FF2B5EF4-FFF2-40B4-BE49-F238E27FC236}">
                <a16:creationId xmlns:a16="http://schemas.microsoft.com/office/drawing/2014/main" id="{C4628E48-FF18-466A-BCB1-BC06344328C7}"/>
              </a:ext>
            </a:extLst>
          </p:cNvPr>
          <p:cNvSpPr txBox="1"/>
          <p:nvPr/>
        </p:nvSpPr>
        <p:spPr>
          <a:xfrm>
            <a:off x="13182600" y="8894988"/>
            <a:ext cx="4572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600" b="1">
                <a:solidFill>
                  <a:srgbClr val="D8E7DF"/>
                </a:solidFill>
                <a:latin typeface="Arial"/>
                <a:cs typeface="Arial"/>
              </a:rPr>
              <a:t>Weekend-Devs</a:t>
            </a:r>
            <a:endParaRPr lang="en-IN" sz="3600" b="1">
              <a:solidFill>
                <a:srgbClr val="D8E7DF"/>
              </a:solidFill>
              <a:latin typeface="Arial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0B5267-81C7-1D7D-3659-F75ABEC3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1" y="863600"/>
            <a:ext cx="5969000" cy="6680200"/>
          </a:xfrm>
          <a:prstGeom prst="rect">
            <a:avLst/>
          </a:prstGeom>
        </p:spPr>
      </p:pic>
      <p:pic>
        <p:nvPicPr>
          <p:cNvPr id="32" name="Picture 31" descr="GitHub Logo and symbol, meaning, history, PNG, brand">
            <a:hlinkClick r:id="rId2"/>
            <a:extLst>
              <a:ext uri="{FF2B5EF4-FFF2-40B4-BE49-F238E27FC236}">
                <a16:creationId xmlns:a16="http://schemas.microsoft.com/office/drawing/2014/main" id="{062A767F-3091-AF8E-C593-AB8813AE6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0" y="8801100"/>
            <a:ext cx="1647801" cy="9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2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A0F27DA-ECAA-4420-8A14-86905944C5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E17AE-7564-4003-8A8D-6CA777E6026D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PROBLEM STATEMENT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5C928-EF04-447A-98BA-DBE4C968519F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FCB08F-7AAC-483A-8E22-A78F50BD57AB}"/>
              </a:ext>
            </a:extLst>
          </p:cNvPr>
          <p:cNvSpPr txBox="1"/>
          <p:nvPr/>
        </p:nvSpPr>
        <p:spPr>
          <a:xfrm>
            <a:off x="812800" y="1041400"/>
            <a:ext cx="11430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123B2C"/>
                </a:solidFill>
                <a:latin typeface="Arial"/>
                <a:cs typeface="Arial"/>
              </a:rPr>
              <a:t>One grade. Many starting points.</a:t>
            </a:r>
            <a:endParaRPr lang="en-IN" sz="40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003B3C-1DEC-490C-A7BD-5B9F3DE55974}"/>
              </a:ext>
            </a:extLst>
          </p:cNvPr>
          <p:cNvSpPr/>
          <p:nvPr/>
        </p:nvSpPr>
        <p:spPr>
          <a:xfrm>
            <a:off x="13779500" y="533400"/>
            <a:ext cx="36830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F6D1B7-658A-41AA-8E23-3C1028E828B0}"/>
              </a:ext>
            </a:extLst>
          </p:cNvPr>
          <p:cNvSpPr txBox="1"/>
          <p:nvPr/>
        </p:nvSpPr>
        <p:spPr>
          <a:xfrm>
            <a:off x="14185900" y="1422400"/>
            <a:ext cx="2870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en-IN" sz="15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F3DD4-AB24-4F48-A8DE-D45B6B3C029A}"/>
              </a:ext>
            </a:extLst>
          </p:cNvPr>
          <p:cNvSpPr/>
          <p:nvPr/>
        </p:nvSpPr>
        <p:spPr>
          <a:xfrm>
            <a:off x="812800" y="2413000"/>
            <a:ext cx="4953000" cy="2768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16596B-AFAD-4976-9AA8-66CC50E0989C}"/>
              </a:ext>
            </a:extLst>
          </p:cNvPr>
          <p:cNvSpPr/>
          <p:nvPr/>
        </p:nvSpPr>
        <p:spPr>
          <a:xfrm>
            <a:off x="812800" y="2413000"/>
            <a:ext cx="4953000" cy="889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0323D-EAFE-4319-A4BF-5634904A2EB8}"/>
              </a:ext>
            </a:extLst>
          </p:cNvPr>
          <p:cNvSpPr txBox="1"/>
          <p:nvPr/>
        </p:nvSpPr>
        <p:spPr>
          <a:xfrm>
            <a:off x="1092200" y="273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b="1">
                <a:solidFill>
                  <a:srgbClr val="123B2C"/>
                </a:solidFill>
                <a:latin typeface="Arial"/>
                <a:cs typeface="Arial"/>
              </a:rPr>
              <a:t>FOUNDATIONAL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9A5D64-C909-439B-B685-5EC78B41C667}"/>
              </a:ext>
            </a:extLst>
          </p:cNvPr>
          <p:cNvSpPr txBox="1"/>
          <p:nvPr/>
        </p:nvSpPr>
        <p:spPr>
          <a:xfrm>
            <a:off x="1092200" y="3352800"/>
            <a:ext cx="43815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5B7167"/>
                </a:solidFill>
                <a:latin typeface="Arial"/>
                <a:cs typeface="Arial"/>
              </a:rPr>
              <a:t>Prerequisite gaps in integer operations, equality, or inverse operations make the shared lesson feel too hard.</a:t>
            </a:r>
            <a:endParaRPr lang="en-IN" sz="16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EEFE28-8987-49EB-AFF1-BE8C49027A80}"/>
              </a:ext>
            </a:extLst>
          </p:cNvPr>
          <p:cNvSpPr/>
          <p:nvPr/>
        </p:nvSpPr>
        <p:spPr>
          <a:xfrm>
            <a:off x="6235700" y="2413000"/>
            <a:ext cx="4953000" cy="2768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AD74D-249F-414C-B8C8-4BB72C795F2E}"/>
              </a:ext>
            </a:extLst>
          </p:cNvPr>
          <p:cNvSpPr/>
          <p:nvPr/>
        </p:nvSpPr>
        <p:spPr>
          <a:xfrm>
            <a:off x="6235700" y="2413000"/>
            <a:ext cx="4953000" cy="889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6F61C5-802F-41D5-8631-C1AEFB3D538C}"/>
              </a:ext>
            </a:extLst>
          </p:cNvPr>
          <p:cNvSpPr txBox="1"/>
          <p:nvPr/>
        </p:nvSpPr>
        <p:spPr>
          <a:xfrm>
            <a:off x="6515100" y="273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b="1">
                <a:solidFill>
                  <a:srgbClr val="123B2C"/>
                </a:solidFill>
                <a:latin typeface="Arial"/>
                <a:cs typeface="Arial"/>
              </a:rPr>
              <a:t>GRADE-LEVEL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480A1D-1C61-486D-9213-812F9C6A5BEF}"/>
              </a:ext>
            </a:extLst>
          </p:cNvPr>
          <p:cNvSpPr txBox="1"/>
          <p:nvPr/>
        </p:nvSpPr>
        <p:spPr>
          <a:xfrm>
            <a:off x="6515100" y="3352800"/>
            <a:ext cx="43815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5B7167"/>
                </a:solidFill>
                <a:latin typeface="Arial"/>
                <a:cs typeface="Arial"/>
              </a:rPr>
              <a:t>Core procedure is present, but one misconception or stopping error blocks independent progress.</a:t>
            </a:r>
            <a:endParaRPr lang="en-IN" sz="16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2FD349-C6D4-4E51-8EBC-A796D4D51067}"/>
              </a:ext>
            </a:extLst>
          </p:cNvPr>
          <p:cNvSpPr/>
          <p:nvPr/>
        </p:nvSpPr>
        <p:spPr>
          <a:xfrm>
            <a:off x="11658600" y="2413000"/>
            <a:ext cx="4953000" cy="2768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65F701-3E40-4307-BBA5-E25CBC7D0C1E}"/>
              </a:ext>
            </a:extLst>
          </p:cNvPr>
          <p:cNvSpPr/>
          <p:nvPr/>
        </p:nvSpPr>
        <p:spPr>
          <a:xfrm>
            <a:off x="11658600" y="2413000"/>
            <a:ext cx="4953000" cy="889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1E0B5-4615-4064-A500-BEAF2B0EA9BC}"/>
              </a:ext>
            </a:extLst>
          </p:cNvPr>
          <p:cNvSpPr txBox="1"/>
          <p:nvPr/>
        </p:nvSpPr>
        <p:spPr>
          <a:xfrm>
            <a:off x="11938000" y="273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b="1">
                <a:solidFill>
                  <a:srgbClr val="123B2C"/>
                </a:solidFill>
                <a:latin typeface="Arial"/>
                <a:cs typeface="Arial"/>
              </a:rPr>
              <a:t>ADVANCED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065061-BF7B-44A4-9646-05D19B5EF484}"/>
              </a:ext>
            </a:extLst>
          </p:cNvPr>
          <p:cNvSpPr txBox="1"/>
          <p:nvPr/>
        </p:nvSpPr>
        <p:spPr>
          <a:xfrm>
            <a:off x="11938000" y="3352800"/>
            <a:ext cx="43815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5B7167"/>
                </a:solidFill>
                <a:latin typeface="Arial"/>
                <a:cs typeface="Arial"/>
              </a:rPr>
              <a:t>The learner is ready for variation, modeling, and explanation—not more repetition of the same steps.</a:t>
            </a:r>
            <a:endParaRPr lang="en-IN" sz="16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35E9A2-BB04-459E-A1E4-2F3A8C1C614E}"/>
              </a:ext>
            </a:extLst>
          </p:cNvPr>
          <p:cNvSpPr/>
          <p:nvPr/>
        </p:nvSpPr>
        <p:spPr>
          <a:xfrm>
            <a:off x="812800" y="5613400"/>
            <a:ext cx="8128000" cy="14732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62E62-7D98-435C-9960-6F911ECA898A}"/>
              </a:ext>
            </a:extLst>
          </p:cNvPr>
          <p:cNvSpPr/>
          <p:nvPr/>
        </p:nvSpPr>
        <p:spPr>
          <a:xfrm>
            <a:off x="812800" y="5613400"/>
            <a:ext cx="76200" cy="1473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75B8BE-11D4-478D-9FA1-73F8BBE60115}"/>
              </a:ext>
            </a:extLst>
          </p:cNvPr>
          <p:cNvSpPr txBox="1"/>
          <p:nvPr/>
        </p:nvSpPr>
        <p:spPr>
          <a:xfrm>
            <a:off x="1092200" y="58547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 b="1">
                <a:solidFill>
                  <a:srgbClr val="123B2C"/>
                </a:solidFill>
                <a:latin typeface="Arial"/>
                <a:cs typeface="Arial"/>
              </a:rPr>
              <a:t>TEACHER WORKLOAD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806FCC-F00E-4F38-9629-79BCF2E8DB37}"/>
              </a:ext>
            </a:extLst>
          </p:cNvPr>
          <p:cNvSpPr txBox="1"/>
          <p:nvPr/>
        </p:nvSpPr>
        <p:spPr>
          <a:xfrm>
            <a:off x="1092200" y="6286500"/>
            <a:ext cx="74422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Teachers cannot inspect every learner’s misconception pattern in real time or translate completion data into a specific intervention.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EEC7E3-7725-48CE-BCE5-B04C08CBF074}"/>
              </a:ext>
            </a:extLst>
          </p:cNvPr>
          <p:cNvSpPr/>
          <p:nvPr/>
        </p:nvSpPr>
        <p:spPr>
          <a:xfrm>
            <a:off x="9347200" y="5613400"/>
            <a:ext cx="8128000" cy="14732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958D95-9E5F-4CFD-98B6-66B46AC8C7B4}"/>
              </a:ext>
            </a:extLst>
          </p:cNvPr>
          <p:cNvSpPr/>
          <p:nvPr/>
        </p:nvSpPr>
        <p:spPr>
          <a:xfrm>
            <a:off x="9347200" y="5613400"/>
            <a:ext cx="76200" cy="1473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2FC063-1649-4548-B6A4-32131A13FB0A}"/>
              </a:ext>
            </a:extLst>
          </p:cNvPr>
          <p:cNvSpPr txBox="1"/>
          <p:nvPr/>
        </p:nvSpPr>
        <p:spPr>
          <a:xfrm>
            <a:off x="9626600" y="58547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23B2C"/>
                </a:solidFill>
                <a:latin typeface="Arial"/>
                <a:cs typeface="Arial"/>
              </a:rPr>
              <a:t>ACCESS AT THE POINT OF NEED</a:t>
            </a:r>
            <a:endParaRPr lang="en-IN" sz="15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36957-65BF-4CFF-9CF9-A45CC97A55E5}"/>
              </a:ext>
            </a:extLst>
          </p:cNvPr>
          <p:cNvSpPr txBox="1"/>
          <p:nvPr/>
        </p:nvSpPr>
        <p:spPr>
          <a:xfrm>
            <a:off x="9626600" y="6286500"/>
            <a:ext cx="74422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Always-online, answer-first products fail when bandwidth is weak—or repair the answer without repairing the underlying concept.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76439B-2F92-43AF-B474-CE8F61450A73}"/>
              </a:ext>
            </a:extLst>
          </p:cNvPr>
          <p:cNvSpPr/>
          <p:nvPr/>
        </p:nvSpPr>
        <p:spPr>
          <a:xfrm>
            <a:off x="812800" y="7594600"/>
            <a:ext cx="16662400" cy="1193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43BEDC-B33F-43B8-80C1-C0BDD54FAFE3}"/>
              </a:ext>
            </a:extLst>
          </p:cNvPr>
          <p:cNvSpPr txBox="1"/>
          <p:nvPr/>
        </p:nvSpPr>
        <p:spPr>
          <a:xfrm>
            <a:off x="1117600" y="7823200"/>
            <a:ext cx="7747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2C94C"/>
                </a:solidFill>
                <a:latin typeface="Arial"/>
                <a:cs typeface="Arial"/>
              </a:rPr>
              <a:t>THE REAL PROBLEM IS NOT CONTENT SCARCITY.</a:t>
            </a:r>
            <a:endParaRPr lang="en-IN" sz="1600" b="1">
              <a:solidFill>
                <a:srgbClr val="F2C94C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70AF22-8294-49D8-B074-E3594221FC47}"/>
              </a:ext>
            </a:extLst>
          </p:cNvPr>
          <p:cNvSpPr txBox="1"/>
          <p:nvPr/>
        </p:nvSpPr>
        <p:spPr>
          <a:xfrm>
            <a:off x="1117600" y="8229600"/>
            <a:ext cx="1498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300" b="1">
                <a:solidFill>
                  <a:srgbClr val="FFFFFF"/>
                </a:solidFill>
                <a:latin typeface="Arial"/>
                <a:cs typeface="Arial"/>
              </a:rPr>
              <a:t>It is deciding the next learning action from limited evidence.</a:t>
            </a:r>
            <a:endParaRPr lang="en-IN" sz="23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178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5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50"/>
                            </p:stCondLst>
                            <p:childTnLst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5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50"/>
                            </p:stCondLst>
                            <p:childTnLst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35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50"/>
                            </p:stCondLst>
                            <p:childTnLst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350"/>
                            </p:stCondLst>
                            <p:childTnLst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850"/>
                            </p:stCondLst>
                            <p:childTnLst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35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850"/>
                            </p:stCondLst>
                            <p:childTnLst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478F29-A267-499C-A1D2-20DC984AA63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737CE-5311-47AB-BF5C-1654754B38F7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WHY CURRENT APPROACHES BREAK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4E64FC-4277-4C8A-AE1C-C7B73D5ABF42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A4638-74EC-4E1F-BB31-D6CA88E2CD52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600" b="1">
                <a:solidFill>
                  <a:srgbClr val="123B2C"/>
                </a:solidFill>
                <a:latin typeface="Arial"/>
                <a:cs typeface="Arial"/>
              </a:rPr>
              <a:t>A generic chatbot or one-size-fits-all LMS misses the decision behind the answer.</a:t>
            </a:r>
            <a:endParaRPr lang="en-IN" sz="3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F7FC895-BEFA-4082-947F-41EE6F1D6899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2159000"/>
          <a:ext cx="16662399" cy="584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133">
                  <a:extLst>
                    <a:ext uri="{9D8B030D-6E8A-4147-A177-3AD203B41FA5}">
                      <a16:colId xmlns:a16="http://schemas.microsoft.com/office/drawing/2014/main" val="3605464367"/>
                    </a:ext>
                  </a:extLst>
                </a:gridCol>
                <a:gridCol w="5554133">
                  <a:extLst>
                    <a:ext uri="{9D8B030D-6E8A-4147-A177-3AD203B41FA5}">
                      <a16:colId xmlns:a16="http://schemas.microsoft.com/office/drawing/2014/main" val="776518345"/>
                    </a:ext>
                  </a:extLst>
                </a:gridCol>
                <a:gridCol w="5554133">
                  <a:extLst>
                    <a:ext uri="{9D8B030D-6E8A-4147-A177-3AD203B41FA5}">
                      <a16:colId xmlns:a16="http://schemas.microsoft.com/office/drawing/2014/main" val="3508310967"/>
                    </a:ext>
                  </a:extLst>
                </a:gridCol>
              </a:tblGrid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TYPICAL APPROACH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IT MISSES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PRISM RESPONSE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96914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Same lesson for every learner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Starting point and prerequisite 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Short diagnostic + differentiated entry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041309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Generic “ask AI” chat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The concept beneath the question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Taxonomy-linked root-gap hypothesis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558414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Correct / incorrect score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Why the learner answered that 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Misconception tags + evidence ledger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555654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Completion dashboard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What the teacher should do next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Ranked intervention recommendation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35402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Cloud-only delivery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Classroom connectivity constraints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Cached text-first learning + queued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04809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2A71512-1F49-454D-ACCB-8AF8E33599BA}"/>
              </a:ext>
            </a:extLst>
          </p:cNvPr>
          <p:cNvSpPr/>
          <p:nvPr/>
        </p:nvSpPr>
        <p:spPr>
          <a:xfrm>
            <a:off x="812800" y="8356600"/>
            <a:ext cx="16662400" cy="889000"/>
          </a:xfrm>
          <a:prstGeom prst="rect">
            <a:avLst/>
          </a:prstGeom>
          <a:solidFill>
            <a:srgbClr val="FFF4C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6172BC-64A9-487C-8AD3-BE5C9BFD3E36}"/>
              </a:ext>
            </a:extLst>
          </p:cNvPr>
          <p:cNvSpPr/>
          <p:nvPr/>
        </p:nvSpPr>
        <p:spPr>
          <a:xfrm>
            <a:off x="812800" y="8356600"/>
            <a:ext cx="88900" cy="8890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101DC-28DA-4355-8AAE-EECED8606C35}"/>
              </a:ext>
            </a:extLst>
          </p:cNvPr>
          <p:cNvSpPr txBox="1"/>
          <p:nvPr/>
        </p:nvSpPr>
        <p:spPr>
          <a:xfrm>
            <a:off x="1117600" y="85471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7B5A00"/>
                </a:solidFill>
                <a:latin typeface="Arial"/>
                <a:cs typeface="Arial"/>
              </a:rPr>
              <a:t>DESIGN PRINCIPLE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F76217-1766-4B49-9640-07A85FFB3D95}"/>
              </a:ext>
            </a:extLst>
          </p:cNvPr>
          <p:cNvSpPr txBox="1"/>
          <p:nvPr/>
        </p:nvSpPr>
        <p:spPr>
          <a:xfrm>
            <a:off x="4013200" y="8509000"/>
            <a:ext cx="1295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123B2C"/>
                </a:solidFill>
                <a:latin typeface="Arial"/>
                <a:cs typeface="Arial"/>
              </a:rPr>
              <a:t>Technology should augment teacher judgment—not silently replace it.</a:t>
            </a:r>
            <a:endParaRPr lang="en-IN" sz="2000" b="1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66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9E4B03-ABB2-4E8B-9624-09C4985820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95918-65C3-4A42-AC74-D6BB19578875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9E5C1"/>
                </a:solidFill>
                <a:latin typeface="Arial"/>
                <a:cs typeface="Arial"/>
              </a:rPr>
              <a:t>THE CLOSED LEARNING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B198C0-C619-45D5-836F-9BCD5C0EDA7F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DBFE7-337C-4F50-9A86-20E4B7A271E1}"/>
              </a:ext>
            </a:extLst>
          </p:cNvPr>
          <p:cNvSpPr txBox="1"/>
          <p:nvPr/>
        </p:nvSpPr>
        <p:spPr>
          <a:xfrm>
            <a:off x="812800" y="1041400"/>
            <a:ext cx="15240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4000" b="1">
                <a:solidFill>
                  <a:srgbClr val="FFFFFF"/>
                </a:solidFill>
                <a:latin typeface="Arial"/>
                <a:cs typeface="Arial"/>
              </a:rPr>
              <a:t>PRISM: Observe → Map → Guide → Verify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E00047-D679-4D3F-B4EF-E7CBC1BD7B3F}"/>
              </a:ext>
            </a:extLst>
          </p:cNvPr>
          <p:cNvSpPr/>
          <p:nvPr/>
        </p:nvSpPr>
        <p:spPr>
          <a:xfrm>
            <a:off x="812800" y="2336800"/>
            <a:ext cx="3302000" cy="28575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09DE4-FDDF-42C0-A581-4F7C9E5E7624}"/>
              </a:ext>
            </a:extLst>
          </p:cNvPr>
          <p:cNvSpPr/>
          <p:nvPr/>
        </p:nvSpPr>
        <p:spPr>
          <a:xfrm>
            <a:off x="812800" y="2336800"/>
            <a:ext cx="3302000" cy="762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5A095-0F39-4BD7-BA3C-A540EF02DAD1}"/>
              </a:ext>
            </a:extLst>
          </p:cNvPr>
          <p:cNvSpPr txBox="1"/>
          <p:nvPr/>
        </p:nvSpPr>
        <p:spPr>
          <a:xfrm>
            <a:off x="1066800" y="26289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A9E5C1"/>
                </a:solidFill>
                <a:latin typeface="Arial"/>
                <a:cs typeface="Arial"/>
              </a:rPr>
              <a:t>01 · OBSERVE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ED348A-536B-43DD-A8B1-42D509758A86}"/>
              </a:ext>
            </a:extLst>
          </p:cNvPr>
          <p:cNvSpPr txBox="1"/>
          <p:nvPr/>
        </p:nvSpPr>
        <p:spPr>
          <a:xfrm>
            <a:off x="1066800" y="311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300" b="1">
                <a:solidFill>
                  <a:srgbClr val="FFFFFF"/>
                </a:solidFill>
                <a:latin typeface="Arial"/>
                <a:cs typeface="Arial"/>
              </a:rPr>
              <a:t>Capture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A6BE5-E5C1-4758-ACCC-F3144E4D7D7C}"/>
              </a:ext>
            </a:extLst>
          </p:cNvPr>
          <p:cNvSpPr txBox="1"/>
          <p:nvPr/>
        </p:nvSpPr>
        <p:spPr>
          <a:xfrm>
            <a:off x="1066800" y="4013200"/>
            <a:ext cx="27940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5-question probe, answer, time band, confidence, hint use, and learner doubt.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4E1FBDE-D9C3-4417-8FDD-60649A457E85}"/>
              </a:ext>
            </a:extLst>
          </p:cNvPr>
          <p:cNvSpPr/>
          <p:nvPr/>
        </p:nvSpPr>
        <p:spPr>
          <a:xfrm>
            <a:off x="4267200" y="3606800"/>
            <a:ext cx="482600" cy="3556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933F13-42D3-406D-AD41-71F99A964520}"/>
              </a:ext>
            </a:extLst>
          </p:cNvPr>
          <p:cNvSpPr/>
          <p:nvPr/>
        </p:nvSpPr>
        <p:spPr>
          <a:xfrm>
            <a:off x="4902200" y="2336800"/>
            <a:ext cx="3302000" cy="28575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4B570-C913-42F9-9527-DCCD44136593}"/>
              </a:ext>
            </a:extLst>
          </p:cNvPr>
          <p:cNvSpPr/>
          <p:nvPr/>
        </p:nvSpPr>
        <p:spPr>
          <a:xfrm>
            <a:off x="4902200" y="2336800"/>
            <a:ext cx="3302000" cy="76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C070B6-55FA-4E22-9398-80AD50D4E5A0}"/>
              </a:ext>
            </a:extLst>
          </p:cNvPr>
          <p:cNvSpPr txBox="1"/>
          <p:nvPr/>
        </p:nvSpPr>
        <p:spPr>
          <a:xfrm>
            <a:off x="5156200" y="26289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2C94C"/>
                </a:solidFill>
                <a:latin typeface="Arial"/>
                <a:cs typeface="Arial"/>
              </a:rPr>
              <a:t>02 · 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B9E331-FBFA-4BA0-9F1F-233D3916812A}"/>
              </a:ext>
            </a:extLst>
          </p:cNvPr>
          <p:cNvSpPr txBox="1"/>
          <p:nvPr/>
        </p:nvSpPr>
        <p:spPr>
          <a:xfrm>
            <a:off x="5156200" y="311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300" b="1">
                <a:solidFill>
                  <a:srgbClr val="FFFFFF"/>
                </a:solidFill>
                <a:latin typeface="Arial"/>
                <a:cs typeface="Arial"/>
              </a:rPr>
              <a:t>Locate the 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4DDC00-38D3-4948-AE08-397450755C4D}"/>
              </a:ext>
            </a:extLst>
          </p:cNvPr>
          <p:cNvSpPr txBox="1"/>
          <p:nvPr/>
        </p:nvSpPr>
        <p:spPr>
          <a:xfrm>
            <a:off x="5156200" y="4013200"/>
            <a:ext cx="27940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Concept + error evidence model, prerequisites, related weak areas, and uncertainty.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9A41ED9-2EE9-4185-88B7-229C6F58FBC5}"/>
              </a:ext>
            </a:extLst>
          </p:cNvPr>
          <p:cNvSpPr/>
          <p:nvPr/>
        </p:nvSpPr>
        <p:spPr>
          <a:xfrm>
            <a:off x="8356600" y="3606800"/>
            <a:ext cx="482600" cy="3556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6A159E-47DC-4882-B219-995C78D4C918}"/>
              </a:ext>
            </a:extLst>
          </p:cNvPr>
          <p:cNvSpPr/>
          <p:nvPr/>
        </p:nvSpPr>
        <p:spPr>
          <a:xfrm>
            <a:off x="8991600" y="2336800"/>
            <a:ext cx="3302000" cy="28575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B6A501-8770-46ED-874A-50ACD5720733}"/>
              </a:ext>
            </a:extLst>
          </p:cNvPr>
          <p:cNvSpPr/>
          <p:nvPr/>
        </p:nvSpPr>
        <p:spPr>
          <a:xfrm>
            <a:off x="8991600" y="2336800"/>
            <a:ext cx="3302000" cy="762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0FEF1-086A-4335-A4AB-D4DF3DD5D534}"/>
              </a:ext>
            </a:extLst>
          </p:cNvPr>
          <p:cNvSpPr txBox="1"/>
          <p:nvPr/>
        </p:nvSpPr>
        <p:spPr>
          <a:xfrm>
            <a:off x="9245600" y="26289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A9E5C1"/>
                </a:solidFill>
                <a:latin typeface="Arial"/>
                <a:cs typeface="Arial"/>
              </a:rPr>
              <a:t>03 · GUIDE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72715-4B5D-4182-A6B0-CEB13FF0C653}"/>
              </a:ext>
            </a:extLst>
          </p:cNvPr>
          <p:cNvSpPr txBox="1"/>
          <p:nvPr/>
        </p:nvSpPr>
        <p:spPr>
          <a:xfrm>
            <a:off x="9245600" y="311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300" b="1">
                <a:solidFill>
                  <a:srgbClr val="FFFFFF"/>
                </a:solidFill>
                <a:latin typeface="Arial"/>
                <a:cs typeface="Arial"/>
              </a:rPr>
              <a:t>Teach the next step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065CEE-544B-4FC2-B02E-C200B5428CD7}"/>
              </a:ext>
            </a:extLst>
          </p:cNvPr>
          <p:cNvSpPr txBox="1"/>
          <p:nvPr/>
        </p:nvSpPr>
        <p:spPr>
          <a:xfrm>
            <a:off x="9245600" y="4013200"/>
            <a:ext cx="27940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Micro-lesson, tutor scaffold, targeted practice, and authored fallback.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600F96A-DE48-4350-BDF3-21AA8CEB3568}"/>
              </a:ext>
            </a:extLst>
          </p:cNvPr>
          <p:cNvSpPr/>
          <p:nvPr/>
        </p:nvSpPr>
        <p:spPr>
          <a:xfrm>
            <a:off x="12446000" y="3606800"/>
            <a:ext cx="482600" cy="3556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AF8AFA-25BE-40CC-9133-511C9F4C09C1}"/>
              </a:ext>
            </a:extLst>
          </p:cNvPr>
          <p:cNvSpPr/>
          <p:nvPr/>
        </p:nvSpPr>
        <p:spPr>
          <a:xfrm>
            <a:off x="13081000" y="2336800"/>
            <a:ext cx="3302000" cy="28575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DBB68C-BAA9-43F0-B347-E599094FAF86}"/>
              </a:ext>
            </a:extLst>
          </p:cNvPr>
          <p:cNvSpPr/>
          <p:nvPr/>
        </p:nvSpPr>
        <p:spPr>
          <a:xfrm>
            <a:off x="13081000" y="2336800"/>
            <a:ext cx="3302000" cy="76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9566E3-9DA2-4EAF-8AC3-A18E31DF8DFD}"/>
              </a:ext>
            </a:extLst>
          </p:cNvPr>
          <p:cNvSpPr txBox="1"/>
          <p:nvPr/>
        </p:nvSpPr>
        <p:spPr>
          <a:xfrm>
            <a:off x="13335000" y="26289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2C94C"/>
                </a:solidFill>
                <a:latin typeface="Arial"/>
                <a:cs typeface="Arial"/>
              </a:rPr>
              <a:t>04 · VERIFY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02366-FA92-4A03-B02E-36201FA872CC}"/>
              </a:ext>
            </a:extLst>
          </p:cNvPr>
          <p:cNvSpPr txBox="1"/>
          <p:nvPr/>
        </p:nvSpPr>
        <p:spPr>
          <a:xfrm>
            <a:off x="13335000" y="311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300" b="1">
                <a:solidFill>
                  <a:srgbClr val="FFFFFF"/>
                </a:solidFill>
                <a:latin typeface="Arial"/>
                <a:cs typeface="Arial"/>
              </a:rPr>
              <a:t>Close the loop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B9175-BA53-4CC1-883C-5CB01D4827EA}"/>
              </a:ext>
            </a:extLst>
          </p:cNvPr>
          <p:cNvSpPr txBox="1"/>
          <p:nvPr/>
        </p:nvSpPr>
        <p:spPr>
          <a:xfrm>
            <a:off x="13335000" y="4013200"/>
            <a:ext cx="2794000" cy="96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Transfer check, mastery update, next action, and teacher intervention signal.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7C7E91-4446-4F04-B524-26F9BA18ABAA}"/>
              </a:ext>
            </a:extLst>
          </p:cNvPr>
          <p:cNvSpPr/>
          <p:nvPr/>
        </p:nvSpPr>
        <p:spPr>
          <a:xfrm>
            <a:off x="812800" y="5740400"/>
            <a:ext cx="16662400" cy="31115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0B27CD-AD9D-492A-A841-86F852B611CD}"/>
              </a:ext>
            </a:extLst>
          </p:cNvPr>
          <p:cNvSpPr txBox="1"/>
          <p:nvPr/>
        </p:nvSpPr>
        <p:spPr>
          <a:xfrm>
            <a:off x="1117600" y="6032500"/>
            <a:ext cx="1079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123B2C"/>
                </a:solidFill>
                <a:latin typeface="Arial"/>
                <a:cs typeface="Arial"/>
              </a:rPr>
              <a:t>EVERY RECOMMENDATION ANSWERS FOUR QUESTIONS</a:t>
            </a:r>
            <a:endParaRPr lang="en-IN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A6E82D-0DCC-4E48-9DB1-D7C51856963C}"/>
              </a:ext>
            </a:extLst>
          </p:cNvPr>
          <p:cNvSpPr/>
          <p:nvPr/>
        </p:nvSpPr>
        <p:spPr>
          <a:xfrm>
            <a:off x="1117600" y="6667500"/>
            <a:ext cx="75184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21EED-C31C-49F8-AA5B-FAEE810EB196}"/>
              </a:ext>
            </a:extLst>
          </p:cNvPr>
          <p:cNvSpPr/>
          <p:nvPr/>
        </p:nvSpPr>
        <p:spPr>
          <a:xfrm>
            <a:off x="1117600" y="6667500"/>
            <a:ext cx="63500" cy="736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D6183D-BEF8-4012-8566-AEB7797DFE39}"/>
              </a:ext>
            </a:extLst>
          </p:cNvPr>
          <p:cNvSpPr txBox="1"/>
          <p:nvPr/>
        </p:nvSpPr>
        <p:spPr>
          <a:xfrm>
            <a:off x="1346200" y="6858000"/>
            <a:ext cx="698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1. What should this learner do next?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F91AE2-ACF7-401F-BD89-F8AC24D0C5CC}"/>
              </a:ext>
            </a:extLst>
          </p:cNvPr>
          <p:cNvSpPr/>
          <p:nvPr/>
        </p:nvSpPr>
        <p:spPr>
          <a:xfrm>
            <a:off x="9372600" y="6667500"/>
            <a:ext cx="75184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2FBE83-DB57-44D2-B005-7B86845DACB6}"/>
              </a:ext>
            </a:extLst>
          </p:cNvPr>
          <p:cNvSpPr/>
          <p:nvPr/>
        </p:nvSpPr>
        <p:spPr>
          <a:xfrm>
            <a:off x="9372600" y="6667500"/>
            <a:ext cx="63500" cy="7366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F2E19-581E-416E-9492-B8F7A7CADF39}"/>
              </a:ext>
            </a:extLst>
          </p:cNvPr>
          <p:cNvSpPr txBox="1"/>
          <p:nvPr/>
        </p:nvSpPr>
        <p:spPr>
          <a:xfrm>
            <a:off x="9601200" y="6858000"/>
            <a:ext cx="698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2. What evidence led to that recommendation?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C14C66-1916-4CDB-A4D8-2D7F7FEC8DE3}"/>
              </a:ext>
            </a:extLst>
          </p:cNvPr>
          <p:cNvSpPr/>
          <p:nvPr/>
        </p:nvSpPr>
        <p:spPr>
          <a:xfrm>
            <a:off x="1117600" y="7645400"/>
            <a:ext cx="75184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867BAB-1782-4F8D-8A77-5C0F3259B353}"/>
              </a:ext>
            </a:extLst>
          </p:cNvPr>
          <p:cNvSpPr/>
          <p:nvPr/>
        </p:nvSpPr>
        <p:spPr>
          <a:xfrm>
            <a:off x="1117600" y="7645400"/>
            <a:ext cx="63500" cy="736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CDAFC4-D76C-45F9-A7FA-F3D8A6C388C2}"/>
              </a:ext>
            </a:extLst>
          </p:cNvPr>
          <p:cNvSpPr txBox="1"/>
          <p:nvPr/>
        </p:nvSpPr>
        <p:spPr>
          <a:xfrm>
            <a:off x="1346200" y="7835900"/>
            <a:ext cx="698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3. How certain is PRISM?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D50FD-D0A0-4E43-B0F4-FF0425226E09}"/>
              </a:ext>
            </a:extLst>
          </p:cNvPr>
          <p:cNvSpPr/>
          <p:nvPr/>
        </p:nvSpPr>
        <p:spPr>
          <a:xfrm>
            <a:off x="9372600" y="7645400"/>
            <a:ext cx="75184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E6A21E-8C5A-41A1-AF05-4E25534D033E}"/>
              </a:ext>
            </a:extLst>
          </p:cNvPr>
          <p:cNvSpPr/>
          <p:nvPr/>
        </p:nvSpPr>
        <p:spPr>
          <a:xfrm>
            <a:off x="9372600" y="7645400"/>
            <a:ext cx="63500" cy="7366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DE87A9-4BF5-4DE1-B02C-5D154C93250D}"/>
              </a:ext>
            </a:extLst>
          </p:cNvPr>
          <p:cNvSpPr txBox="1"/>
          <p:nvPr/>
        </p:nvSpPr>
        <p:spPr>
          <a:xfrm>
            <a:off x="9601200" y="7835900"/>
            <a:ext cx="698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4. What should the teacher do if the learner remains stuck?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34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03855B-F0FB-42A7-B20B-84F151D0D2B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495AE-33F0-4A51-A16F-C401BB228DF5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REQUIREMENT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2D37F-8183-460A-89A2-0BFABED3C958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63343-7F6E-4121-88D7-DE629F896FEE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One integrated prototype. Two connected experiences.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7583EA-50DB-4769-8B88-F7933C2571A4}"/>
              </a:ext>
            </a:extLst>
          </p:cNvPr>
          <p:cNvSpPr/>
          <p:nvPr/>
        </p:nvSpPr>
        <p:spPr>
          <a:xfrm>
            <a:off x="812800" y="2209800"/>
            <a:ext cx="7213600" cy="635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48EC2F-B656-4ED9-8505-54892433C1A9}"/>
              </a:ext>
            </a:extLst>
          </p:cNvPr>
          <p:cNvSpPr/>
          <p:nvPr/>
        </p:nvSpPr>
        <p:spPr>
          <a:xfrm>
            <a:off x="812800" y="2209800"/>
            <a:ext cx="7213600" cy="889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0C03B-E792-4D00-9568-F7EEF88F47AC}"/>
              </a:ext>
            </a:extLst>
          </p:cNvPr>
          <p:cNvSpPr txBox="1"/>
          <p:nvPr/>
        </p:nvSpPr>
        <p:spPr>
          <a:xfrm>
            <a:off x="1143000" y="2603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200" b="1">
                <a:solidFill>
                  <a:srgbClr val="123B2C"/>
                </a:solidFill>
                <a:latin typeface="Arial"/>
                <a:cs typeface="Arial"/>
              </a:rPr>
              <a:t>LEARNER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242B0-D52C-4147-86AF-205C0D1B81A7}"/>
              </a:ext>
            </a:extLst>
          </p:cNvPr>
          <p:cNvSpPr txBox="1"/>
          <p:nvPr/>
        </p:nvSpPr>
        <p:spPr>
          <a:xfrm>
            <a:off x="1143000" y="3302000"/>
            <a:ext cx="6350000" cy="4635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600">
                <a:solidFill>
                  <a:srgbClr val="5B7167"/>
                </a:solidFill>
                <a:latin typeface="Arial"/>
                <a:cs typeface="Arial"/>
              </a:rPr>
              <a:t>5-question diagnostic
Foundational / Grade-Level / Advanced path
10-minute personalized micro-lesson
3 embedded practice questions + instant feedback
Text doubt + optional handwritten-photo intake
Socratic or direct explanation
Concept graph + session history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3F210-4EEF-420D-887B-ECD3C22B952E}"/>
              </a:ext>
            </a:extLst>
          </p:cNvPr>
          <p:cNvSpPr/>
          <p:nvPr/>
        </p:nvSpPr>
        <p:spPr>
          <a:xfrm>
            <a:off x="10261600" y="2209800"/>
            <a:ext cx="7213600" cy="635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1D5F79-7AF6-4AB5-8A4D-1DD8B87CA48D}"/>
              </a:ext>
            </a:extLst>
          </p:cNvPr>
          <p:cNvSpPr/>
          <p:nvPr/>
        </p:nvSpPr>
        <p:spPr>
          <a:xfrm>
            <a:off x="10261600" y="2209800"/>
            <a:ext cx="7213600" cy="889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061936-7A57-4B19-96ED-5B3898366132}"/>
              </a:ext>
            </a:extLst>
          </p:cNvPr>
          <p:cNvSpPr txBox="1"/>
          <p:nvPr/>
        </p:nvSpPr>
        <p:spPr>
          <a:xfrm>
            <a:off x="10591800" y="2603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200" b="1">
                <a:solidFill>
                  <a:srgbClr val="123B2C"/>
                </a:solidFill>
                <a:latin typeface="Arial"/>
                <a:cs typeface="Arial"/>
              </a:rPr>
              <a:t>EVALUATOR EXPERIENCE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CE8313-0DF2-4551-AEB4-604BEE0263A9}"/>
              </a:ext>
            </a:extLst>
          </p:cNvPr>
          <p:cNvSpPr txBox="1"/>
          <p:nvPr/>
        </p:nvSpPr>
        <p:spPr>
          <a:xfrm>
            <a:off x="10591800" y="3302000"/>
            <a:ext cx="6350000" cy="4635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5B7167"/>
                </a:solidFill>
                <a:latin typeface="Arial"/>
                <a:cs typeface="Arial"/>
              </a:rPr>
              <a:t>Level distribution and completion status
Common error-pattern clusters
Learner-level evidence and likely blocker
Recommended short intervention
Offline / pending-sync visibility
Cohort trends without public learner ranking
Evidence-led follow-up</a:t>
            </a:r>
            <a:endParaRPr lang="en-IN" sz="16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BD10B-6696-4091-839F-8B5D83D6A94F}"/>
              </a:ext>
            </a:extLst>
          </p:cNvPr>
          <p:cNvSpPr/>
          <p:nvPr/>
        </p:nvSpPr>
        <p:spPr>
          <a:xfrm>
            <a:off x="8458200" y="2603500"/>
            <a:ext cx="1371600" cy="53340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87BFB0-8B41-489D-863B-3FFB6CCECCE6}"/>
              </a:ext>
            </a:extLst>
          </p:cNvPr>
          <p:cNvSpPr txBox="1"/>
          <p:nvPr/>
        </p:nvSpPr>
        <p:spPr>
          <a:xfrm>
            <a:off x="8559800" y="3073400"/>
            <a:ext cx="1168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LEARNER
EVIDENCE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12973B1-0747-406E-8615-A6BD9A677F26}"/>
              </a:ext>
            </a:extLst>
          </p:cNvPr>
          <p:cNvSpPr/>
          <p:nvPr/>
        </p:nvSpPr>
        <p:spPr>
          <a:xfrm>
            <a:off x="8737600" y="4013200"/>
            <a:ext cx="812800" cy="482600"/>
          </a:xfrm>
          <a:prstGeom prst="rightArrow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1AEE30-EE59-4A32-B118-88D7774BF0C4}"/>
              </a:ext>
            </a:extLst>
          </p:cNvPr>
          <p:cNvSpPr/>
          <p:nvPr/>
        </p:nvSpPr>
        <p:spPr>
          <a:xfrm>
            <a:off x="9093200" y="4622800"/>
            <a:ext cx="101600" cy="19050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76CA8FA-CB35-4261-AD02-4F5A9C4F17E5}"/>
              </a:ext>
            </a:extLst>
          </p:cNvPr>
          <p:cNvSpPr/>
          <p:nvPr/>
        </p:nvSpPr>
        <p:spPr>
          <a:xfrm>
            <a:off x="8737600" y="6781800"/>
            <a:ext cx="812800" cy="482600"/>
          </a:xfrm>
          <a:prstGeom prst="rightArrow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5A3CF-FF74-4334-9A14-FCF9EE655DD2}"/>
              </a:ext>
            </a:extLst>
          </p:cNvPr>
          <p:cNvSpPr txBox="1"/>
          <p:nvPr/>
        </p:nvSpPr>
        <p:spPr>
          <a:xfrm>
            <a:off x="8559800" y="7239000"/>
            <a:ext cx="11684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TEACHER
ACTION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48DB4E-7BB0-43B7-AA40-5773EDFAB9BE}"/>
              </a:ext>
            </a:extLst>
          </p:cNvPr>
          <p:cNvSpPr/>
          <p:nvPr/>
        </p:nvSpPr>
        <p:spPr>
          <a:xfrm>
            <a:off x="812800" y="8991600"/>
            <a:ext cx="16662400" cy="7112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8253E1-946B-4D89-8FAA-3492F6B90470}"/>
              </a:ext>
            </a:extLst>
          </p:cNvPr>
          <p:cNvSpPr txBox="1"/>
          <p:nvPr/>
        </p:nvSpPr>
        <p:spPr>
          <a:xfrm>
            <a:off x="1117600" y="9169400"/>
            <a:ext cx="1605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Learner interactions produce the teacher’s intervention signal—there is no second, manually maintained system.</a:t>
            </a:r>
            <a:endParaRPr lang="en-IN" sz="17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52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E1BCA2-D913-4090-BCE1-087773B9E6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88E26-F898-4032-BE05-8ECF9C94E162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THE 5-QUESTION DIAGNOSTIC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6010EF-5E9C-4494-B767-51D335C1168B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7ACD4-52FA-4523-B7BD-0E343D15EA9A}"/>
              </a:ext>
            </a:extLst>
          </p:cNvPr>
          <p:cNvSpPr txBox="1"/>
          <p:nvPr/>
        </p:nvSpPr>
        <p:spPr>
          <a:xfrm>
            <a:off x="812800" y="1041400"/>
            <a:ext cx="11176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Five signals to choose a better beginning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2B4FAB-5D2C-42BF-ACBB-0E86BBEC12F9}"/>
              </a:ext>
            </a:extLst>
          </p:cNvPr>
          <p:cNvSpPr/>
          <p:nvPr/>
        </p:nvSpPr>
        <p:spPr>
          <a:xfrm>
            <a:off x="13208000" y="660400"/>
            <a:ext cx="4191000" cy="355600"/>
          </a:xfrm>
          <a:prstGeom prst="round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4D5FA-75E2-486B-BCC4-C0D079D1FF4E}"/>
              </a:ext>
            </a:extLst>
          </p:cNvPr>
          <p:cNvSpPr txBox="1"/>
          <p:nvPr/>
        </p:nvSpPr>
        <p:spPr>
          <a:xfrm>
            <a:off x="13335000" y="711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F7D5A"/>
                </a:solidFill>
                <a:latin typeface="Arial"/>
                <a:cs typeface="Arial"/>
              </a:rPr>
              <a:t>GRADE 8 MATH · LINEAR EQUATIONS</a:t>
            </a:r>
            <a:endParaRPr lang="en-IN" sz="1100" b="1">
              <a:solidFill>
                <a:srgbClr val="2F7D5A"/>
              </a:solidFill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65E988-D325-48B9-9FD7-EBBC5E6297B8}"/>
              </a:ext>
            </a:extLst>
          </p:cNvPr>
          <p:cNvSpPr/>
          <p:nvPr/>
        </p:nvSpPr>
        <p:spPr>
          <a:xfrm>
            <a:off x="812800" y="2159000"/>
            <a:ext cx="10287000" cy="9906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FC73D-72FC-4850-8BB5-C53C99572465}"/>
              </a:ext>
            </a:extLst>
          </p:cNvPr>
          <p:cNvSpPr/>
          <p:nvPr/>
        </p:nvSpPr>
        <p:spPr>
          <a:xfrm>
            <a:off x="812800" y="2159000"/>
            <a:ext cx="76200" cy="990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0445B-1211-47F3-99FB-326AD6A4DDD6}"/>
              </a:ext>
            </a:extLst>
          </p:cNvPr>
          <p:cNvSpPr txBox="1"/>
          <p:nvPr/>
        </p:nvSpPr>
        <p:spPr>
          <a:xfrm>
            <a:off x="1092200" y="23114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Q1 · NUMBER SENSE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F7259-EAA8-4066-BD87-53798227BFFD}"/>
              </a:ext>
            </a:extLst>
          </p:cNvPr>
          <p:cNvSpPr txBox="1"/>
          <p:nvPr/>
        </p:nvSpPr>
        <p:spPr>
          <a:xfrm>
            <a:off x="1092200" y="2654300"/>
            <a:ext cx="9626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−7 + 12 = ?  |  Detects integer-operation readiness.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521539-5D8E-4C49-ABA0-F07F31A746BB}"/>
              </a:ext>
            </a:extLst>
          </p:cNvPr>
          <p:cNvSpPr/>
          <p:nvPr/>
        </p:nvSpPr>
        <p:spPr>
          <a:xfrm>
            <a:off x="812800" y="3327400"/>
            <a:ext cx="10287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789AA-DD6A-4BD0-AF56-68770B197BC6}"/>
              </a:ext>
            </a:extLst>
          </p:cNvPr>
          <p:cNvSpPr/>
          <p:nvPr/>
        </p:nvSpPr>
        <p:spPr>
          <a:xfrm>
            <a:off x="812800" y="3327400"/>
            <a:ext cx="76200" cy="990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E23BD5-4444-418B-AC9A-FA56AF8E9295}"/>
              </a:ext>
            </a:extLst>
          </p:cNvPr>
          <p:cNvSpPr txBox="1"/>
          <p:nvPr/>
        </p:nvSpPr>
        <p:spPr>
          <a:xfrm>
            <a:off x="1092200" y="34798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Q2 · EQUALITY MEANING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8A7068-3776-44EA-A4E5-B226019B8EBB}"/>
              </a:ext>
            </a:extLst>
          </p:cNvPr>
          <p:cNvSpPr txBox="1"/>
          <p:nvPr/>
        </p:nvSpPr>
        <p:spPr>
          <a:xfrm>
            <a:off x="1092200" y="3822700"/>
            <a:ext cx="9626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Which values keep x + 5 = 12 balanced?  |  Checks equation-as-balance.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665F57-0445-4786-BBF0-3AA5D02D7C60}"/>
              </a:ext>
            </a:extLst>
          </p:cNvPr>
          <p:cNvSpPr/>
          <p:nvPr/>
        </p:nvSpPr>
        <p:spPr>
          <a:xfrm>
            <a:off x="812800" y="4495800"/>
            <a:ext cx="10287000" cy="9906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25D31-8646-419C-9E82-1AEB5A291356}"/>
              </a:ext>
            </a:extLst>
          </p:cNvPr>
          <p:cNvSpPr/>
          <p:nvPr/>
        </p:nvSpPr>
        <p:spPr>
          <a:xfrm>
            <a:off x="812800" y="4495800"/>
            <a:ext cx="76200" cy="990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83C03-8817-46E5-9CD3-3300A09CBB96}"/>
              </a:ext>
            </a:extLst>
          </p:cNvPr>
          <p:cNvSpPr txBox="1"/>
          <p:nvPr/>
        </p:nvSpPr>
        <p:spPr>
          <a:xfrm>
            <a:off x="1092200" y="46482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Q3 · INVERSE OPERATION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85E56-92B5-4793-8A5F-3D7279FE0774}"/>
              </a:ext>
            </a:extLst>
          </p:cNvPr>
          <p:cNvSpPr txBox="1"/>
          <p:nvPr/>
        </p:nvSpPr>
        <p:spPr>
          <a:xfrm>
            <a:off x="1092200" y="4991100"/>
            <a:ext cx="9626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Solve x − 8 = 15.  |  Tests inverse-operation selection.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BC6E6C-9668-4FB8-8F7D-321B91BC9E0F}"/>
              </a:ext>
            </a:extLst>
          </p:cNvPr>
          <p:cNvSpPr/>
          <p:nvPr/>
        </p:nvSpPr>
        <p:spPr>
          <a:xfrm>
            <a:off x="812800" y="5664200"/>
            <a:ext cx="10287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DA0D01-3329-469B-BD9D-FB476AD9DB83}"/>
              </a:ext>
            </a:extLst>
          </p:cNvPr>
          <p:cNvSpPr/>
          <p:nvPr/>
        </p:nvSpPr>
        <p:spPr>
          <a:xfrm>
            <a:off x="812800" y="5664200"/>
            <a:ext cx="76200" cy="9906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7CBB62-BD3F-4CBD-A55A-FCFBE8BEFAF4}"/>
              </a:ext>
            </a:extLst>
          </p:cNvPr>
          <p:cNvSpPr txBox="1"/>
          <p:nvPr/>
        </p:nvSpPr>
        <p:spPr>
          <a:xfrm>
            <a:off x="1092200" y="58166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Q4 · MULTI-STEP 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4CD690-8EC0-4216-BABF-FE8C937E4F6F}"/>
              </a:ext>
            </a:extLst>
          </p:cNvPr>
          <p:cNvSpPr txBox="1"/>
          <p:nvPr/>
        </p:nvSpPr>
        <p:spPr>
          <a:xfrm>
            <a:off x="1092200" y="6159500"/>
            <a:ext cx="9626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Solve 3x − 5 = 16.  |  Reveals whether the learner stops before isolating x.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D636D2-CDD0-4B56-9784-B0FC597CF755}"/>
              </a:ext>
            </a:extLst>
          </p:cNvPr>
          <p:cNvSpPr/>
          <p:nvPr/>
        </p:nvSpPr>
        <p:spPr>
          <a:xfrm>
            <a:off x="812800" y="6832600"/>
            <a:ext cx="10287000" cy="9906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862862-9440-471B-837D-6BA2C4E3E23C}"/>
              </a:ext>
            </a:extLst>
          </p:cNvPr>
          <p:cNvSpPr/>
          <p:nvPr/>
        </p:nvSpPr>
        <p:spPr>
          <a:xfrm>
            <a:off x="812800" y="6832600"/>
            <a:ext cx="76200" cy="990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EE612E-B25C-4B8B-9389-AB16E04F9B08}"/>
              </a:ext>
            </a:extLst>
          </p:cNvPr>
          <p:cNvSpPr txBox="1"/>
          <p:nvPr/>
        </p:nvSpPr>
        <p:spPr>
          <a:xfrm>
            <a:off x="1092200" y="6985000"/>
            <a:ext cx="3937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Q5 · TRANSFER / CHECK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6BCBBD-E535-43B1-A510-057CA0C1AEA9}"/>
              </a:ext>
            </a:extLst>
          </p:cNvPr>
          <p:cNvSpPr txBox="1"/>
          <p:nvPr/>
        </p:nvSpPr>
        <p:spPr>
          <a:xfrm>
            <a:off x="1092200" y="7327900"/>
            <a:ext cx="9626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Is x = 7 valid for 2x + 4 = 18? Why?  |  Tests substitution and explanation.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AC7026-3C9D-4126-9B9F-F5F27F2449E1}"/>
              </a:ext>
            </a:extLst>
          </p:cNvPr>
          <p:cNvSpPr/>
          <p:nvPr/>
        </p:nvSpPr>
        <p:spPr>
          <a:xfrm>
            <a:off x="11582400" y="2159000"/>
            <a:ext cx="5892800" cy="56642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396767-AAB4-4B45-89C2-F0C52C1A952C}"/>
              </a:ext>
            </a:extLst>
          </p:cNvPr>
          <p:cNvSpPr txBox="1"/>
          <p:nvPr/>
        </p:nvSpPr>
        <p:spPr>
          <a:xfrm>
            <a:off x="11887200" y="2463800"/>
            <a:ext cx="5207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700" b="1">
                <a:solidFill>
                  <a:srgbClr val="123B2C"/>
                </a:solidFill>
                <a:latin typeface="Arial"/>
                <a:cs typeface="Arial"/>
              </a:rPr>
              <a:t>TRANSPARENT CLASSIFICATION POLICY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B44CAD-FE22-42A5-B772-96BFCA3026C9}"/>
              </a:ext>
            </a:extLst>
          </p:cNvPr>
          <p:cNvSpPr/>
          <p:nvPr/>
        </p:nvSpPr>
        <p:spPr>
          <a:xfrm>
            <a:off x="11887200" y="3022600"/>
            <a:ext cx="5283200" cy="939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7870A9-EAC9-454D-ACBF-0BF8DC03C96F}"/>
              </a:ext>
            </a:extLst>
          </p:cNvPr>
          <p:cNvSpPr/>
          <p:nvPr/>
        </p:nvSpPr>
        <p:spPr>
          <a:xfrm>
            <a:off x="11887200" y="3022600"/>
            <a:ext cx="63500" cy="9398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CE1CB2-89B1-4A73-9966-074C24685180}"/>
              </a:ext>
            </a:extLst>
          </p:cNvPr>
          <p:cNvSpPr txBox="1"/>
          <p:nvPr/>
        </p:nvSpPr>
        <p:spPr>
          <a:xfrm>
            <a:off x="12115800" y="31496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123B2C"/>
                </a:solidFill>
                <a:latin typeface="Arial"/>
                <a:cs typeface="Arial"/>
              </a:rPr>
              <a:t>FOUNDATIONAL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A2C282-704B-46C3-931D-8D23F31A2C55}"/>
              </a:ext>
            </a:extLst>
          </p:cNvPr>
          <p:cNvSpPr txBox="1"/>
          <p:nvPr/>
        </p:nvSpPr>
        <p:spPr>
          <a:xfrm>
            <a:off x="12115800" y="3441700"/>
            <a:ext cx="47498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Prerequisite signal missing or inconsistent → begin with equality and inverse operations.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479431-310E-422E-9F6F-C96F5C9ECA72}"/>
              </a:ext>
            </a:extLst>
          </p:cNvPr>
          <p:cNvSpPr/>
          <p:nvPr/>
        </p:nvSpPr>
        <p:spPr>
          <a:xfrm>
            <a:off x="11887200" y="4140200"/>
            <a:ext cx="5283200" cy="939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141D6-9C56-461B-92CA-86606B628EEE}"/>
              </a:ext>
            </a:extLst>
          </p:cNvPr>
          <p:cNvSpPr/>
          <p:nvPr/>
        </p:nvSpPr>
        <p:spPr>
          <a:xfrm>
            <a:off x="11887200" y="4140200"/>
            <a:ext cx="63500" cy="9398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940200-EE7A-4668-B4B7-E70D2676B86F}"/>
              </a:ext>
            </a:extLst>
          </p:cNvPr>
          <p:cNvSpPr txBox="1"/>
          <p:nvPr/>
        </p:nvSpPr>
        <p:spPr>
          <a:xfrm>
            <a:off x="12115800" y="42672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123B2C"/>
                </a:solidFill>
                <a:latin typeface="Arial"/>
                <a:cs typeface="Arial"/>
              </a:rPr>
              <a:t>GRADE-LEVEL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6B0C4B-0233-482E-861D-87CD11CD5577}"/>
              </a:ext>
            </a:extLst>
          </p:cNvPr>
          <p:cNvSpPr txBox="1"/>
          <p:nvPr/>
        </p:nvSpPr>
        <p:spPr>
          <a:xfrm>
            <a:off x="12115800" y="4559300"/>
            <a:ext cx="47498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Core procedure present with one misconception → targeted repair + grade-level application.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07C5D9-1C6B-4838-A4F4-688A58F0D8B6}"/>
              </a:ext>
            </a:extLst>
          </p:cNvPr>
          <p:cNvSpPr/>
          <p:nvPr/>
        </p:nvSpPr>
        <p:spPr>
          <a:xfrm>
            <a:off x="11887200" y="5257800"/>
            <a:ext cx="5283200" cy="939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602925-2235-4654-8412-1CBFACEAC9C4}"/>
              </a:ext>
            </a:extLst>
          </p:cNvPr>
          <p:cNvSpPr/>
          <p:nvPr/>
        </p:nvSpPr>
        <p:spPr>
          <a:xfrm>
            <a:off x="11887200" y="5257800"/>
            <a:ext cx="63500" cy="9398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A12159-D787-4B5E-BDD0-B6FAE5EE1731}"/>
              </a:ext>
            </a:extLst>
          </p:cNvPr>
          <p:cNvSpPr txBox="1"/>
          <p:nvPr/>
        </p:nvSpPr>
        <p:spPr>
          <a:xfrm>
            <a:off x="12115800" y="53848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123B2C"/>
                </a:solidFill>
                <a:latin typeface="Arial"/>
                <a:cs typeface="Arial"/>
              </a:rPr>
              <a:t>ADVANCED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B6F5F1-E7DF-4B50-8E2B-847C1A9C6ECC}"/>
              </a:ext>
            </a:extLst>
          </p:cNvPr>
          <p:cNvSpPr txBox="1"/>
          <p:nvPr/>
        </p:nvSpPr>
        <p:spPr>
          <a:xfrm>
            <a:off x="12115800" y="5676900"/>
            <a:ext cx="47498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Independent solution and transfer explanation → variation, modeling, or extension.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4F32C-C25C-4FD4-AF16-BB77DB07F0CE}"/>
              </a:ext>
            </a:extLst>
          </p:cNvPr>
          <p:cNvSpPr/>
          <p:nvPr/>
        </p:nvSpPr>
        <p:spPr>
          <a:xfrm>
            <a:off x="11887200" y="6375400"/>
            <a:ext cx="5283200" cy="939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004BA8-1E9D-4865-ADA1-E278D9F2A8FD}"/>
              </a:ext>
            </a:extLst>
          </p:cNvPr>
          <p:cNvSpPr/>
          <p:nvPr/>
        </p:nvSpPr>
        <p:spPr>
          <a:xfrm>
            <a:off x="11887200" y="6375400"/>
            <a:ext cx="63500" cy="939800"/>
          </a:xfrm>
          <a:prstGeom prst="rect">
            <a:avLst/>
          </a:prstGeom>
          <a:solidFill>
            <a:srgbClr val="A6533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F8CD79-BACA-4BEA-96F8-00A82AFA5570}"/>
              </a:ext>
            </a:extLst>
          </p:cNvPr>
          <p:cNvSpPr txBox="1"/>
          <p:nvPr/>
        </p:nvSpPr>
        <p:spPr>
          <a:xfrm>
            <a:off x="12115800" y="6502400"/>
            <a:ext cx="469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123B2C"/>
                </a:solidFill>
                <a:latin typeface="Arial"/>
                <a:cs typeface="Arial"/>
              </a:rPr>
              <a:t>INSUFFICIENT EVIDENCE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369B79-0078-4C3A-801C-AE1C8D4177CB}"/>
              </a:ext>
            </a:extLst>
          </p:cNvPr>
          <p:cNvSpPr txBox="1"/>
          <p:nvPr/>
        </p:nvSpPr>
        <p:spPr>
          <a:xfrm>
            <a:off x="12115800" y="6794500"/>
            <a:ext cx="47498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Low confidence, skips, or conflicting signals → ask one clarifying item; do not over-label.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B4548B-E7FC-4259-A510-20F110D9D97F}"/>
              </a:ext>
            </a:extLst>
          </p:cNvPr>
          <p:cNvSpPr/>
          <p:nvPr/>
        </p:nvSpPr>
        <p:spPr>
          <a:xfrm>
            <a:off x="812800" y="8255000"/>
            <a:ext cx="166624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EDDD93-5D6B-4D33-B54C-3B595D3FCA99}"/>
              </a:ext>
            </a:extLst>
          </p:cNvPr>
          <p:cNvSpPr txBox="1"/>
          <p:nvPr/>
        </p:nvSpPr>
        <p:spPr>
          <a:xfrm>
            <a:off x="1117600" y="84582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F2C94C"/>
                </a:solidFill>
                <a:latin typeface="Arial"/>
                <a:cs typeface="Arial"/>
              </a:rPr>
              <a:t>STORED PER RESPONSE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952E9A-6D10-475C-A06A-E6B889B5F3E3}"/>
              </a:ext>
            </a:extLst>
          </p:cNvPr>
          <p:cNvSpPr txBox="1"/>
          <p:nvPr/>
        </p:nvSpPr>
        <p:spPr>
          <a:xfrm>
            <a:off x="3911600" y="8420100"/>
            <a:ext cx="130556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Arial"/>
                <a:cs typeface="Arial"/>
              </a:rPr>
              <a:t>answer · correctness · error tag · time band · hint use · confidence · concept IDs · timestamp</a:t>
            </a:r>
            <a:endParaRPr lang="en-IN" sz="15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3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112F541-3E70-44A2-B2C1-34E41DB6D0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7BC45-BA11-43B1-AEA3-AD903FAD12B9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9E5C1"/>
                </a:solidFill>
                <a:latin typeface="Arial"/>
                <a:cs typeface="Arial"/>
              </a:rPr>
              <a:t>THREE MICROLEARNING PATHS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B783C5-1041-4843-9AC7-3B6394667AE6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2EFEF6-6ADE-4876-B3DF-33B9EA4C254D}"/>
              </a:ext>
            </a:extLst>
          </p:cNvPr>
          <p:cNvSpPr txBox="1"/>
          <p:nvPr/>
        </p:nvSpPr>
        <p:spPr>
          <a:xfrm>
            <a:off x="812800" y="1041400"/>
            <a:ext cx="15240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900" b="1">
                <a:solidFill>
                  <a:srgbClr val="FFFFFF"/>
                </a:solidFill>
                <a:latin typeface="Arial"/>
                <a:cs typeface="Arial"/>
              </a:rPr>
              <a:t>Same curriculum goal. Different next step.</a:t>
            </a:r>
            <a:endParaRPr lang="en-IN" sz="39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FE8D1A-15E6-4DD4-BCB8-5494F336CE46}"/>
              </a:ext>
            </a:extLst>
          </p:cNvPr>
          <p:cNvSpPr/>
          <p:nvPr/>
        </p:nvSpPr>
        <p:spPr>
          <a:xfrm>
            <a:off x="812800" y="2235200"/>
            <a:ext cx="4953000" cy="5207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03FD7B-FEBF-4F0D-B462-6ACC6046FCB7}"/>
              </a:ext>
            </a:extLst>
          </p:cNvPr>
          <p:cNvSpPr/>
          <p:nvPr/>
        </p:nvSpPr>
        <p:spPr>
          <a:xfrm>
            <a:off x="812800" y="2235200"/>
            <a:ext cx="4953000" cy="889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DC2EF3-FFD3-4155-8537-7A82DBE219CD}"/>
              </a:ext>
            </a:extLst>
          </p:cNvPr>
          <p:cNvSpPr txBox="1"/>
          <p:nvPr/>
        </p:nvSpPr>
        <p:spPr>
          <a:xfrm>
            <a:off x="1092200" y="25654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  <a:latin typeface="Arial"/>
                <a:cs typeface="Arial"/>
              </a:rPr>
              <a:t>FOUNDATIONAL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5CAE29-1136-4E35-B034-F087F37E79B2}"/>
              </a:ext>
            </a:extLst>
          </p:cNvPr>
          <p:cNvSpPr txBox="1"/>
          <p:nvPr/>
        </p:nvSpPr>
        <p:spPr>
          <a:xfrm>
            <a:off x="1092200" y="32766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A9E5C1"/>
                </a:solidFill>
                <a:latin typeface="Arial"/>
                <a:cs typeface="Arial"/>
              </a:rPr>
              <a:t>10-MINUTE LESSON SHAPE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F2859E-D0EB-4C93-B3C0-91242E383476}"/>
              </a:ext>
            </a:extLst>
          </p:cNvPr>
          <p:cNvSpPr txBox="1"/>
          <p:nvPr/>
        </p:nvSpPr>
        <p:spPr>
          <a:xfrm>
            <a:off x="1092200" y="3619500"/>
            <a:ext cx="43180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Equality-as-balance visual → inverse-operation worked example → guided self-explanation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AA610E-B2BC-4ED0-BB3E-5C6F60082AD3}"/>
              </a:ext>
            </a:extLst>
          </p:cNvPr>
          <p:cNvSpPr txBox="1"/>
          <p:nvPr/>
        </p:nvSpPr>
        <p:spPr>
          <a:xfrm>
            <a:off x="1092200" y="4749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A9E5C1"/>
                </a:solidFill>
                <a:latin typeface="Arial"/>
                <a:cs typeface="Arial"/>
              </a:rPr>
              <a:t>3 EMBEDDED PRACTICES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814C72-67D1-4688-8E6E-1BBE9452F496}"/>
              </a:ext>
            </a:extLst>
          </p:cNvPr>
          <p:cNvSpPr txBox="1"/>
          <p:nvPr/>
        </p:nvSpPr>
        <p:spPr>
          <a:xfrm>
            <a:off x="1092200" y="50927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One-step equation · identify operation · check solution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7B6129-2E3B-4A82-8432-90D0B1E54CA7}"/>
              </a:ext>
            </a:extLst>
          </p:cNvPr>
          <p:cNvSpPr txBox="1"/>
          <p:nvPr/>
        </p:nvSpPr>
        <p:spPr>
          <a:xfrm>
            <a:off x="1092200" y="6146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A9E5C1"/>
                </a:solidFill>
                <a:latin typeface="Arial"/>
                <a:cs typeface="Arial"/>
              </a:rPr>
              <a:t>COMPLETION CONDITION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94884-B461-461E-84FB-68BD39DE30D2}"/>
              </a:ext>
            </a:extLst>
          </p:cNvPr>
          <p:cNvSpPr txBox="1"/>
          <p:nvPr/>
        </p:nvSpPr>
        <p:spPr>
          <a:xfrm>
            <a:off x="1092200" y="6489700"/>
            <a:ext cx="4318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One independent transfer response—or a clear retry recommendation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B47D7C-F06E-4750-B9DA-7D12F5DD3830}"/>
              </a:ext>
            </a:extLst>
          </p:cNvPr>
          <p:cNvSpPr/>
          <p:nvPr/>
        </p:nvSpPr>
        <p:spPr>
          <a:xfrm>
            <a:off x="6362700" y="2235200"/>
            <a:ext cx="4953000" cy="5207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CDADDB-8C79-4084-BB56-44A528727784}"/>
              </a:ext>
            </a:extLst>
          </p:cNvPr>
          <p:cNvSpPr/>
          <p:nvPr/>
        </p:nvSpPr>
        <p:spPr>
          <a:xfrm>
            <a:off x="6362700" y="2235200"/>
            <a:ext cx="4953000" cy="889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CBFAC1-9926-4886-A8D7-75C7C3BF137D}"/>
              </a:ext>
            </a:extLst>
          </p:cNvPr>
          <p:cNvSpPr txBox="1"/>
          <p:nvPr/>
        </p:nvSpPr>
        <p:spPr>
          <a:xfrm>
            <a:off x="6642100" y="25654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  <a:latin typeface="Arial"/>
                <a:cs typeface="Arial"/>
              </a:rPr>
              <a:t>GRADE-LEVEL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5CD672-DF72-4817-9248-DEE7D0AB049A}"/>
              </a:ext>
            </a:extLst>
          </p:cNvPr>
          <p:cNvSpPr txBox="1"/>
          <p:nvPr/>
        </p:nvSpPr>
        <p:spPr>
          <a:xfrm>
            <a:off x="6642100" y="32766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2C94C"/>
                </a:solidFill>
                <a:latin typeface="Arial"/>
                <a:cs typeface="Arial"/>
              </a:rPr>
              <a:t>10-MINUTE LESSON SHAPE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145F0-7237-4814-B110-2AC2A1DEBFD8}"/>
              </a:ext>
            </a:extLst>
          </p:cNvPr>
          <p:cNvSpPr txBox="1"/>
          <p:nvPr/>
        </p:nvSpPr>
        <p:spPr>
          <a:xfrm>
            <a:off x="6642100" y="3619500"/>
            <a:ext cx="43180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Multi-step worked example → common stopping error → guided repair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C6881E-764A-434B-AE75-29BCAAB1BEEA}"/>
              </a:ext>
            </a:extLst>
          </p:cNvPr>
          <p:cNvSpPr txBox="1"/>
          <p:nvPr/>
        </p:nvSpPr>
        <p:spPr>
          <a:xfrm>
            <a:off x="6642100" y="4749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2C94C"/>
                </a:solidFill>
                <a:latin typeface="Arial"/>
                <a:cs typeface="Arial"/>
              </a:rPr>
              <a:t>3 EMBEDDED PRACTICES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362975-5DB5-44D7-9ED3-237A2DC3C0F9}"/>
              </a:ext>
            </a:extLst>
          </p:cNvPr>
          <p:cNvSpPr txBox="1"/>
          <p:nvPr/>
        </p:nvSpPr>
        <p:spPr>
          <a:xfrm>
            <a:off x="6642100" y="50927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Solve multi-step · error analysis · contextual application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07F53A-E05A-431F-8C33-B113A9CBA13A}"/>
              </a:ext>
            </a:extLst>
          </p:cNvPr>
          <p:cNvSpPr txBox="1"/>
          <p:nvPr/>
        </p:nvSpPr>
        <p:spPr>
          <a:xfrm>
            <a:off x="6642100" y="6146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2C94C"/>
                </a:solidFill>
                <a:latin typeface="Arial"/>
                <a:cs typeface="Arial"/>
              </a:rPr>
              <a:t>COMPLETION CONDITION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7B05CA-78A9-416D-874B-D9E84EEC9AAB}"/>
              </a:ext>
            </a:extLst>
          </p:cNvPr>
          <p:cNvSpPr txBox="1"/>
          <p:nvPr/>
        </p:nvSpPr>
        <p:spPr>
          <a:xfrm>
            <a:off x="6642100" y="6489700"/>
            <a:ext cx="4318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Correct strategy on an independent transfer item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512E4E-378D-48CD-9F9A-A9C83C42F723}"/>
              </a:ext>
            </a:extLst>
          </p:cNvPr>
          <p:cNvSpPr/>
          <p:nvPr/>
        </p:nvSpPr>
        <p:spPr>
          <a:xfrm>
            <a:off x="11912600" y="2235200"/>
            <a:ext cx="4953000" cy="5207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E93E10-4606-44E3-83D8-DE712DB4D8F6}"/>
              </a:ext>
            </a:extLst>
          </p:cNvPr>
          <p:cNvSpPr/>
          <p:nvPr/>
        </p:nvSpPr>
        <p:spPr>
          <a:xfrm>
            <a:off x="11912600" y="2235200"/>
            <a:ext cx="4953000" cy="889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CC9FD4-7355-488F-93A6-0A060CED09E1}"/>
              </a:ext>
            </a:extLst>
          </p:cNvPr>
          <p:cNvSpPr txBox="1"/>
          <p:nvPr/>
        </p:nvSpPr>
        <p:spPr>
          <a:xfrm>
            <a:off x="12192000" y="25654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  <a:latin typeface="Arial"/>
                <a:cs typeface="Arial"/>
              </a:rPr>
              <a:t>ADVANCED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944DB-3762-49AE-BFD8-8D9742A07894}"/>
              </a:ext>
            </a:extLst>
          </p:cNvPr>
          <p:cNvSpPr txBox="1"/>
          <p:nvPr/>
        </p:nvSpPr>
        <p:spPr>
          <a:xfrm>
            <a:off x="12192000" y="32766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Arial"/>
                <a:cs typeface="Arial"/>
              </a:rPr>
              <a:t>10-MINUTE LESSON SHAPE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DA9E5E-0CB4-42E0-8551-23CE91DF8BBD}"/>
              </a:ext>
            </a:extLst>
          </p:cNvPr>
          <p:cNvSpPr txBox="1"/>
          <p:nvPr/>
        </p:nvSpPr>
        <p:spPr>
          <a:xfrm>
            <a:off x="12192000" y="3619500"/>
            <a:ext cx="43180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Compare valid paths → model a word problem → justify method efficiency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5AE179-C36A-4098-B767-6F83C35AEED3}"/>
              </a:ext>
            </a:extLst>
          </p:cNvPr>
          <p:cNvSpPr txBox="1"/>
          <p:nvPr/>
        </p:nvSpPr>
        <p:spPr>
          <a:xfrm>
            <a:off x="12192000" y="4749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Arial"/>
                <a:cs typeface="Arial"/>
              </a:rPr>
              <a:t>3 EMBEDDED PRACTICES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0CF679-B8D4-4EA5-8EF4-E22774079B54}"/>
              </a:ext>
            </a:extLst>
          </p:cNvPr>
          <p:cNvSpPr txBox="1"/>
          <p:nvPr/>
        </p:nvSpPr>
        <p:spPr>
          <a:xfrm>
            <a:off x="12192000" y="50927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Multi-step variation · create an equation · explain why a method works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F288BE-08CC-436E-AFB5-3E54AB4AC920}"/>
              </a:ext>
            </a:extLst>
          </p:cNvPr>
          <p:cNvSpPr txBox="1"/>
          <p:nvPr/>
        </p:nvSpPr>
        <p:spPr>
          <a:xfrm>
            <a:off x="12192000" y="6146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Arial"/>
                <a:cs typeface="Arial"/>
              </a:rPr>
              <a:t>COMPLETION CONDITION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A43B55-1DBC-4E1B-8F41-DA70B67A1EBD}"/>
              </a:ext>
            </a:extLst>
          </p:cNvPr>
          <p:cNvSpPr txBox="1"/>
          <p:nvPr/>
        </p:nvSpPr>
        <p:spPr>
          <a:xfrm>
            <a:off x="12192000" y="6489700"/>
            <a:ext cx="4318000" cy="685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D6E7DE"/>
                </a:solidFill>
                <a:latin typeface="Arial"/>
                <a:cs typeface="Arial"/>
              </a:rPr>
              <a:t>Explanation + independent application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A5AF2C-EF2C-40E8-9B58-ECB98ACF3C56}"/>
              </a:ext>
            </a:extLst>
          </p:cNvPr>
          <p:cNvSpPr/>
          <p:nvPr/>
        </p:nvSpPr>
        <p:spPr>
          <a:xfrm>
            <a:off x="812800" y="7823200"/>
            <a:ext cx="16662400" cy="7112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3BA350-B571-4E75-B1C3-1C1EA7D8E670}"/>
              </a:ext>
            </a:extLst>
          </p:cNvPr>
          <p:cNvSpPr txBox="1"/>
          <p:nvPr/>
        </p:nvSpPr>
        <p:spPr>
          <a:xfrm>
            <a:off x="1092200" y="8026400"/>
            <a:ext cx="16103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Worked example → self-explanation → independent attempt → immediate feedback → next-step choice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2A37FA-4529-4F31-8C32-290FC3E2AE86}"/>
              </a:ext>
            </a:extLst>
          </p:cNvPr>
          <p:cNvSpPr txBox="1"/>
          <p:nvPr/>
        </p:nvSpPr>
        <p:spPr>
          <a:xfrm>
            <a:off x="1016000" y="8851900"/>
            <a:ext cx="16256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Specific feedback: “You added 5 to both sides. x is still multiplied by 3—what inverse operation is left?”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4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5321FA-A46F-419A-8A8B-AA704532660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5CF87-4BC3-4939-AD17-F80042C8F016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DOUBT RESOLUTION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F89C4C-3A6B-4694-B88A-2E7C6CFE9A72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5AB10-28C8-457E-BB41-014F633E5035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Do not only answer the doubt. Repair its root cause.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057F5A-6BD9-43F5-BDF4-46EF2D1DC29D}"/>
              </a:ext>
            </a:extLst>
          </p:cNvPr>
          <p:cNvSpPr/>
          <p:nvPr/>
        </p:nvSpPr>
        <p:spPr>
          <a:xfrm>
            <a:off x="812800" y="2108200"/>
            <a:ext cx="4953000" cy="4953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4CC196-DC1E-4D4F-8A0D-0A3335776E7D}"/>
              </a:ext>
            </a:extLst>
          </p:cNvPr>
          <p:cNvSpPr txBox="1"/>
          <p:nvPr/>
        </p:nvSpPr>
        <p:spPr>
          <a:xfrm>
            <a:off x="1117600" y="2438400"/>
            <a:ext cx="3810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b="1">
                <a:solidFill>
                  <a:srgbClr val="123B2C"/>
                </a:solidFill>
                <a:latin typeface="Arial"/>
                <a:cs typeface="Arial"/>
              </a:rPr>
              <a:t>LEARNER INPUT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433811-D35B-4219-B792-F3FF3A41370A}"/>
              </a:ext>
            </a:extLst>
          </p:cNvPr>
          <p:cNvSpPr/>
          <p:nvPr/>
        </p:nvSpPr>
        <p:spPr>
          <a:xfrm>
            <a:off x="1117600" y="3022600"/>
            <a:ext cx="4343400" cy="939800"/>
          </a:xfrm>
          <a:prstGeom prst="rect">
            <a:avLst/>
          </a:prstGeom>
          <a:solidFill>
            <a:srgbClr val="FFF4C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09546A-2EC0-4B28-8E42-70D61DE35AB4}"/>
              </a:ext>
            </a:extLst>
          </p:cNvPr>
          <p:cNvSpPr txBox="1"/>
          <p:nvPr/>
        </p:nvSpPr>
        <p:spPr>
          <a:xfrm>
            <a:off x="1346200" y="31623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7B5A00"/>
                </a:solidFill>
                <a:latin typeface="Arial"/>
                <a:cs typeface="Arial"/>
              </a:rPr>
              <a:t>TEXT DOUBT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DB18C0-126A-46EE-A677-A84B173D1879}"/>
              </a:ext>
            </a:extLst>
          </p:cNvPr>
          <p:cNvSpPr txBox="1"/>
          <p:nvPr/>
        </p:nvSpPr>
        <p:spPr>
          <a:xfrm>
            <a:off x="1346200" y="34671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23B2C"/>
                </a:solidFill>
                <a:latin typeface="Arial"/>
                <a:cs typeface="Arial"/>
              </a:rPr>
              <a:t>“I added 5, but why can’t I stop at 3x = 21?”</a:t>
            </a:r>
            <a:endParaRPr lang="en-IN" sz="15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47A3D7-AEE0-458C-ADD8-1B280E9C1A55}"/>
              </a:ext>
            </a:extLst>
          </p:cNvPr>
          <p:cNvSpPr/>
          <p:nvPr/>
        </p:nvSpPr>
        <p:spPr>
          <a:xfrm>
            <a:off x="1117600" y="4191000"/>
            <a:ext cx="4343400" cy="17272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0FD0A-DF96-4564-A058-8CC99565D6A8}"/>
              </a:ext>
            </a:extLst>
          </p:cNvPr>
          <p:cNvSpPr/>
          <p:nvPr/>
        </p:nvSpPr>
        <p:spPr>
          <a:xfrm>
            <a:off x="1117600" y="4191000"/>
            <a:ext cx="43434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86BAEF-480C-4371-A9D2-A519B418FA51}"/>
              </a:ext>
            </a:extLst>
          </p:cNvPr>
          <p:cNvSpPr txBox="1"/>
          <p:nvPr/>
        </p:nvSpPr>
        <p:spPr>
          <a:xfrm>
            <a:off x="1346200" y="4445000"/>
            <a:ext cx="3886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HANDWRITTEN PHOTO PLACEHOLDER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37667-3B11-4A68-8CC2-6A22B75949DF}"/>
              </a:ext>
            </a:extLst>
          </p:cNvPr>
          <p:cNvSpPr txBox="1"/>
          <p:nvPr/>
        </p:nvSpPr>
        <p:spPr>
          <a:xfrm>
            <a:off x="1447800" y="4927600"/>
            <a:ext cx="3683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5B7167"/>
                </a:solidFill>
                <a:latin typeface="Arial"/>
                <a:cs typeface="Arial"/>
              </a:rPr>
              <a:t>Add a verified notebook capture / OCR confirmation screen.</a:t>
            </a:r>
            <a:endParaRPr lang="en-IN" sz="14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1CC850-F353-4E37-A0E7-44B1EED46F50}"/>
              </a:ext>
            </a:extLst>
          </p:cNvPr>
          <p:cNvSpPr/>
          <p:nvPr/>
        </p:nvSpPr>
        <p:spPr>
          <a:xfrm>
            <a:off x="1117600" y="6146800"/>
            <a:ext cx="4343400" cy="6604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CE03E8-2954-40EC-91BD-A57B90746B3C}"/>
              </a:ext>
            </a:extLst>
          </p:cNvPr>
          <p:cNvSpPr txBox="1"/>
          <p:nvPr/>
        </p:nvSpPr>
        <p:spPr>
          <a:xfrm>
            <a:off x="1320800" y="6311900"/>
            <a:ext cx="393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OCR is confirmed by the learner before reasoning begins.</a:t>
            </a:r>
            <a:endParaRPr lang="en-IN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B8A67-A11D-440A-BD38-4F74C0404B3D}"/>
              </a:ext>
            </a:extLst>
          </p:cNvPr>
          <p:cNvSpPr txBox="1"/>
          <p:nvPr/>
        </p:nvSpPr>
        <p:spPr>
          <a:xfrm>
            <a:off x="6350000" y="2184400"/>
            <a:ext cx="6350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b="1">
                <a:solidFill>
                  <a:srgbClr val="123B2C"/>
                </a:solidFill>
                <a:latin typeface="Arial"/>
                <a:cs typeface="Arial"/>
              </a:rPr>
              <a:t>GROUNDED PIPELINE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708315-DBC9-401A-8801-B3A35C09CBE9}"/>
              </a:ext>
            </a:extLst>
          </p:cNvPr>
          <p:cNvSpPr/>
          <p:nvPr/>
        </p:nvSpPr>
        <p:spPr>
          <a:xfrm>
            <a:off x="6350000" y="2692400"/>
            <a:ext cx="111252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31E845-C72E-49CA-B1D3-96F3C7D9F191}"/>
              </a:ext>
            </a:extLst>
          </p:cNvPr>
          <p:cNvSpPr/>
          <p:nvPr/>
        </p:nvSpPr>
        <p:spPr>
          <a:xfrm>
            <a:off x="6350000" y="2692400"/>
            <a:ext cx="63500" cy="5334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B07345-1A06-41AA-8915-539B3319990B}"/>
              </a:ext>
            </a:extLst>
          </p:cNvPr>
          <p:cNvSpPr txBox="1"/>
          <p:nvPr/>
        </p:nvSpPr>
        <p:spPr>
          <a:xfrm>
            <a:off x="6553200" y="28194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CD9A6A-60F3-4E04-AD13-62B7FCE0A2CD}"/>
              </a:ext>
            </a:extLst>
          </p:cNvPr>
          <p:cNvSpPr txBox="1"/>
          <p:nvPr/>
        </p:nvSpPr>
        <p:spPr>
          <a:xfrm>
            <a:off x="7175500" y="27940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Text / photo intake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455593-2533-4490-94A6-8F64788DB46D}"/>
              </a:ext>
            </a:extLst>
          </p:cNvPr>
          <p:cNvSpPr/>
          <p:nvPr/>
        </p:nvSpPr>
        <p:spPr>
          <a:xfrm>
            <a:off x="6350000" y="3352800"/>
            <a:ext cx="11125200" cy="5334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1B81A9-B246-4088-878B-F13AF3B7CB83}"/>
              </a:ext>
            </a:extLst>
          </p:cNvPr>
          <p:cNvSpPr/>
          <p:nvPr/>
        </p:nvSpPr>
        <p:spPr>
          <a:xfrm>
            <a:off x="6350000" y="3352800"/>
            <a:ext cx="63500" cy="5334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B3BF69-0755-4FC3-B877-6861A2BCC512}"/>
              </a:ext>
            </a:extLst>
          </p:cNvPr>
          <p:cNvSpPr txBox="1"/>
          <p:nvPr/>
        </p:nvSpPr>
        <p:spPr>
          <a:xfrm>
            <a:off x="6553200" y="34798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977901-0C39-49C3-9FDF-C1BFE69BA7E2}"/>
              </a:ext>
            </a:extLst>
          </p:cNvPr>
          <p:cNvSpPr txBox="1"/>
          <p:nvPr/>
        </p:nvSpPr>
        <p:spPr>
          <a:xfrm>
            <a:off x="7175500" y="34544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OCR candidate → learner confirmation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284EFC-E0AB-484D-B7A7-B6884BDAAD14}"/>
              </a:ext>
            </a:extLst>
          </p:cNvPr>
          <p:cNvSpPr/>
          <p:nvPr/>
        </p:nvSpPr>
        <p:spPr>
          <a:xfrm>
            <a:off x="6350000" y="4013200"/>
            <a:ext cx="111252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CA2E06-BE83-4065-B0FA-1C11F94D8EFD}"/>
              </a:ext>
            </a:extLst>
          </p:cNvPr>
          <p:cNvSpPr/>
          <p:nvPr/>
        </p:nvSpPr>
        <p:spPr>
          <a:xfrm>
            <a:off x="6350000" y="4013200"/>
            <a:ext cx="63500" cy="5334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4340D1-5638-4A11-BD00-3BEB1C41E04A}"/>
              </a:ext>
            </a:extLst>
          </p:cNvPr>
          <p:cNvSpPr txBox="1"/>
          <p:nvPr/>
        </p:nvSpPr>
        <p:spPr>
          <a:xfrm>
            <a:off x="6553200" y="41402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9BB214-C6B0-48F0-9E57-D96A2DDEE5C7}"/>
              </a:ext>
            </a:extLst>
          </p:cNvPr>
          <p:cNvSpPr txBox="1"/>
          <p:nvPr/>
        </p:nvSpPr>
        <p:spPr>
          <a:xfrm>
            <a:off x="7175500" y="41148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Curriculum-scoped concept retrieval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BD8AD0-4102-4651-B5CF-717BFEAD5A5D}"/>
              </a:ext>
            </a:extLst>
          </p:cNvPr>
          <p:cNvSpPr/>
          <p:nvPr/>
        </p:nvSpPr>
        <p:spPr>
          <a:xfrm>
            <a:off x="6350000" y="4673600"/>
            <a:ext cx="11125200" cy="5334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443C14-586A-4B43-A180-5003D2DA26CF}"/>
              </a:ext>
            </a:extLst>
          </p:cNvPr>
          <p:cNvSpPr/>
          <p:nvPr/>
        </p:nvSpPr>
        <p:spPr>
          <a:xfrm>
            <a:off x="6350000" y="4673600"/>
            <a:ext cx="63500" cy="5334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695C4F-E564-466E-B2E2-F8C988D0BC5D}"/>
              </a:ext>
            </a:extLst>
          </p:cNvPr>
          <p:cNvSpPr txBox="1"/>
          <p:nvPr/>
        </p:nvSpPr>
        <p:spPr>
          <a:xfrm>
            <a:off x="6553200" y="48006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6E9C19-8001-48A6-93B8-4F15320B7D58}"/>
              </a:ext>
            </a:extLst>
          </p:cNvPr>
          <p:cNvSpPr txBox="1"/>
          <p:nvPr/>
        </p:nvSpPr>
        <p:spPr>
          <a:xfrm>
            <a:off x="7175500" y="47752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Attempt pattern + prerequisite graph + context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DB5C86-F57A-4AFA-97A4-0040E8E0277B}"/>
              </a:ext>
            </a:extLst>
          </p:cNvPr>
          <p:cNvSpPr/>
          <p:nvPr/>
        </p:nvSpPr>
        <p:spPr>
          <a:xfrm>
            <a:off x="6350000" y="5334000"/>
            <a:ext cx="111252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FEF488-D44F-457E-8258-105A080E66D0}"/>
              </a:ext>
            </a:extLst>
          </p:cNvPr>
          <p:cNvSpPr/>
          <p:nvPr/>
        </p:nvSpPr>
        <p:spPr>
          <a:xfrm>
            <a:off x="6350000" y="5334000"/>
            <a:ext cx="63500" cy="5334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E35E76-A75D-41E9-8D52-1EE9D868A9CF}"/>
              </a:ext>
            </a:extLst>
          </p:cNvPr>
          <p:cNvSpPr txBox="1"/>
          <p:nvPr/>
        </p:nvSpPr>
        <p:spPr>
          <a:xfrm>
            <a:off x="6553200" y="54610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BE4F4A-A463-4EC7-AFA7-96228CA8757A}"/>
              </a:ext>
            </a:extLst>
          </p:cNvPr>
          <p:cNvSpPr txBox="1"/>
          <p:nvPr/>
        </p:nvSpPr>
        <p:spPr>
          <a:xfrm>
            <a:off x="7175500" y="54356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Root-gap hypothesis + confidence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61309C-2DCC-43C9-9C7B-FCDEDF3F8DE8}"/>
              </a:ext>
            </a:extLst>
          </p:cNvPr>
          <p:cNvSpPr/>
          <p:nvPr/>
        </p:nvSpPr>
        <p:spPr>
          <a:xfrm>
            <a:off x="6350000" y="5994400"/>
            <a:ext cx="11125200" cy="533400"/>
          </a:xfrm>
          <a:prstGeom prst="rect">
            <a:avLst/>
          </a:prstGeom>
          <a:solidFill>
            <a:srgbClr val="F0F5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BB568F-E648-4516-AFEE-306C765C10AE}"/>
              </a:ext>
            </a:extLst>
          </p:cNvPr>
          <p:cNvSpPr/>
          <p:nvPr/>
        </p:nvSpPr>
        <p:spPr>
          <a:xfrm>
            <a:off x="6350000" y="5994400"/>
            <a:ext cx="63500" cy="5334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C8A016-D605-4E41-AC4C-3FB143D89FE3}"/>
              </a:ext>
            </a:extLst>
          </p:cNvPr>
          <p:cNvSpPr txBox="1"/>
          <p:nvPr/>
        </p:nvSpPr>
        <p:spPr>
          <a:xfrm>
            <a:off x="6553200" y="61214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60B047-A1EB-4E90-A9FE-FC6831E14F09}"/>
              </a:ext>
            </a:extLst>
          </p:cNvPr>
          <p:cNvSpPr txBox="1"/>
          <p:nvPr/>
        </p:nvSpPr>
        <p:spPr>
          <a:xfrm>
            <a:off x="7175500" y="60960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23B2C"/>
                </a:solidFill>
                <a:latin typeface="Arial"/>
                <a:cs typeface="Arial"/>
              </a:rPr>
              <a:t>Socratic or direct scaffold + citation</a:t>
            </a:r>
            <a:endParaRPr lang="en-IN" sz="14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D21E65-E5DC-486C-83DC-21962270FEA4}"/>
              </a:ext>
            </a:extLst>
          </p:cNvPr>
          <p:cNvSpPr/>
          <p:nvPr/>
        </p:nvSpPr>
        <p:spPr>
          <a:xfrm>
            <a:off x="6350000" y="6654800"/>
            <a:ext cx="11125200" cy="5334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9955B0-1B1C-4141-9D6E-11B000665EFE}"/>
              </a:ext>
            </a:extLst>
          </p:cNvPr>
          <p:cNvSpPr/>
          <p:nvPr/>
        </p:nvSpPr>
        <p:spPr>
          <a:xfrm>
            <a:off x="6350000" y="6654800"/>
            <a:ext cx="63500" cy="5334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C96E07-FFC3-4887-91E5-0C3D44F33D22}"/>
              </a:ext>
            </a:extLst>
          </p:cNvPr>
          <p:cNvSpPr txBox="1"/>
          <p:nvPr/>
        </p:nvSpPr>
        <p:spPr>
          <a:xfrm>
            <a:off x="6553200" y="6781800"/>
            <a:ext cx="482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74AA00-4AB8-40AE-8614-FF54CC4DDD29}"/>
              </a:ext>
            </a:extLst>
          </p:cNvPr>
          <p:cNvSpPr txBox="1"/>
          <p:nvPr/>
        </p:nvSpPr>
        <p:spPr>
          <a:xfrm>
            <a:off x="7175500" y="6756400"/>
            <a:ext cx="9969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Transfer check + graph update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D2EE45-901B-424A-ACCA-FB32B1FD6E81}"/>
              </a:ext>
            </a:extLst>
          </p:cNvPr>
          <p:cNvSpPr/>
          <p:nvPr/>
        </p:nvSpPr>
        <p:spPr>
          <a:xfrm>
            <a:off x="812800" y="7518400"/>
            <a:ext cx="16662400" cy="1651000"/>
          </a:xfrm>
          <a:prstGeom prst="rect">
            <a:avLst/>
          </a:prstGeom>
          <a:solidFill>
            <a:srgbClr val="FFF4C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81A01C-9FD9-4600-B6B2-67A31A5C3323}"/>
              </a:ext>
            </a:extLst>
          </p:cNvPr>
          <p:cNvSpPr txBox="1"/>
          <p:nvPr/>
        </p:nvSpPr>
        <p:spPr>
          <a:xfrm>
            <a:off x="1117600" y="77597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7B5A00"/>
                </a:solidFill>
                <a:latin typeface="Arial"/>
                <a:cs typeface="Arial"/>
              </a:rPr>
              <a:t>ROOT-GAP EXAMPLE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13B32A-671D-44FB-8CD8-F12FB2215BB0}"/>
              </a:ext>
            </a:extLst>
          </p:cNvPr>
          <p:cNvSpPr txBox="1"/>
          <p:nvPr/>
        </p:nvSpPr>
        <p:spPr>
          <a:xfrm>
            <a:off x="1117600" y="82423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5B7167"/>
                </a:solidFill>
                <a:latin typeface="Arial"/>
                <a:cs typeface="Arial"/>
              </a:rPr>
              <a:t>SURFACE DOUBT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9A7F90-F13A-444A-8DB1-91C4CE4446EE}"/>
              </a:ext>
            </a:extLst>
          </p:cNvPr>
          <p:cNvSpPr txBox="1"/>
          <p:nvPr/>
        </p:nvSpPr>
        <p:spPr>
          <a:xfrm>
            <a:off x="1117600" y="85217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23B2C"/>
                </a:solidFill>
                <a:latin typeface="Arial"/>
                <a:cs typeface="Arial"/>
              </a:rPr>
              <a:t>Why is 3x = 21 not the final answer?</a:t>
            </a:r>
            <a:endParaRPr lang="en-IN" sz="14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8A4FF6-DE80-4050-9A03-B4CFC91AFE63}"/>
              </a:ext>
            </a:extLst>
          </p:cNvPr>
          <p:cNvSpPr txBox="1"/>
          <p:nvPr/>
        </p:nvSpPr>
        <p:spPr>
          <a:xfrm>
            <a:off x="6019800" y="8242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5B7167"/>
                </a:solidFill>
                <a:latin typeface="Arial"/>
                <a:cs typeface="Arial"/>
              </a:rPr>
              <a:t>LIKELY ROOT CONCEPT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14BA1D-4E74-4B0A-8336-E058440DBDC2}"/>
              </a:ext>
            </a:extLst>
          </p:cNvPr>
          <p:cNvSpPr txBox="1"/>
          <p:nvPr/>
        </p:nvSpPr>
        <p:spPr>
          <a:xfrm>
            <a:off x="6019800" y="85217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23B2C"/>
                </a:solidFill>
                <a:latin typeface="Arial"/>
                <a:cs typeface="Arial"/>
              </a:rPr>
              <a:t>Inverse operations / isolating the variable</a:t>
            </a:r>
            <a:endParaRPr lang="en-IN" sz="14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F72EBE-B72C-4344-BF3B-265DDF03B7C3}"/>
              </a:ext>
            </a:extLst>
          </p:cNvPr>
          <p:cNvSpPr txBox="1"/>
          <p:nvPr/>
        </p:nvSpPr>
        <p:spPr>
          <a:xfrm>
            <a:off x="10744200" y="8242300"/>
            <a:ext cx="266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5B7167"/>
                </a:solidFill>
                <a:latin typeface="Arial"/>
                <a:cs typeface="Arial"/>
              </a:rPr>
              <a:t>FIRST USEFUL RESPONSE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8DE92B-8FFA-4672-BC03-5A63B8AF5609}"/>
              </a:ext>
            </a:extLst>
          </p:cNvPr>
          <p:cNvSpPr txBox="1"/>
          <p:nvPr/>
        </p:nvSpPr>
        <p:spPr>
          <a:xfrm>
            <a:off x="10744200" y="8521700"/>
            <a:ext cx="6096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123B2C"/>
                </a:solidFill>
                <a:latin typeface="Arial"/>
                <a:cs typeface="Arial"/>
              </a:rPr>
              <a:t>Is x alone yet? What reverses multiplying by 3?</a:t>
            </a:r>
            <a:endParaRPr lang="en-IN" sz="1400" b="1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511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D4840B-5E79-4A72-8E6E-2FF97E21140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0CC8C-31B3-420C-B5D3-3041027F70EB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TUTOR BEHAVIOR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F2C5A-C679-49F3-8595-8F378BEAC383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F6387-2025-4C79-BF50-3BD496BC124C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The tutor escalates help only when the learner needs it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9F5F00-3301-4261-9097-7303CC157D3E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2108200"/>
          <a:ext cx="16662400" cy="5130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00">
                  <a:extLst>
                    <a:ext uri="{9D8B030D-6E8A-4147-A177-3AD203B41FA5}">
                      <a16:colId xmlns:a16="http://schemas.microsoft.com/office/drawing/2014/main" val="2400638284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1628997995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3951074960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2851785862"/>
                    </a:ext>
                  </a:extLst>
                </a:gridCol>
              </a:tblGrid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 STATE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PRISM MODE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 BEHAVIOR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675379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First attempt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Socratic hint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What must happen to both sides before x is alone?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29340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First incorrect attempt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Explain error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You removed 5 correctly, but x is still multiplied by 3.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243723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Second incorrect attempt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Worked 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From 3x = 21, divide both sides by 3: x = 7.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54751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Third attempt or “show me”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Direct explanation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Full curriculum-linked worked solution.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187216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After explanation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Check thinking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Isomorphic transfer question; learner applies it independently.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3224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84C2458-46EA-49F1-BD8F-6EFDD28C6546}"/>
              </a:ext>
            </a:extLst>
          </p:cNvPr>
          <p:cNvSpPr/>
          <p:nvPr/>
        </p:nvSpPr>
        <p:spPr>
          <a:xfrm>
            <a:off x="812800" y="7543800"/>
            <a:ext cx="16662400" cy="1701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46D96-DBC5-4CFB-BFC4-5E9329247F05}"/>
              </a:ext>
            </a:extLst>
          </p:cNvPr>
          <p:cNvSpPr txBox="1"/>
          <p:nvPr/>
        </p:nvSpPr>
        <p:spPr>
          <a:xfrm>
            <a:off x="1117600" y="77851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 b="1">
                <a:solidFill>
                  <a:srgbClr val="F2C94C"/>
                </a:solidFill>
                <a:latin typeface="Arial"/>
                <a:cs typeface="Arial"/>
              </a:rPr>
              <a:t>TUTOR CONTRACT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E35D-16C8-48BE-9A2A-1A5E57F28FD7}"/>
              </a:ext>
            </a:extLst>
          </p:cNvPr>
          <p:cNvSpPr txBox="1"/>
          <p:nvPr/>
        </p:nvSpPr>
        <p:spPr>
          <a:xfrm>
            <a:off x="1117600" y="8204200"/>
            <a:ext cx="73025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Uses only the active grade, subject, concept, prerequisite, and authored lesson scope.
Returns mode, concept IDs, curriculum citations, confidence, and next action.</a:t>
            </a:r>
            <a:endParaRPr lang="en-IN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B4A7E-76A7-4D83-B9FB-1FD33276FB31}"/>
              </a:ext>
            </a:extLst>
          </p:cNvPr>
          <p:cNvSpPr txBox="1"/>
          <p:nvPr/>
        </p:nvSpPr>
        <p:spPr>
          <a:xfrm>
            <a:off x="9144000" y="8204200"/>
            <a:ext cx="7874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Rejects unsupported claims, unknown concept IDs, and unjustified high confidence.
Falls back to deterministic authored hints and feedback if the LLM is unavailable.</a:t>
            </a:r>
            <a:endParaRPr lang="en-IN" sz="13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15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50"/>
                            </p:stCondLst>
                            <p:childTnLst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82B8A9D-09F4-4264-B6F4-E2B665BF1EC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063C8E-79F6-4D58-8474-B7568AA91C4F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9E5C1"/>
                </a:solidFill>
                <a:latin typeface="Arial"/>
                <a:cs typeface="Arial"/>
              </a:rPr>
              <a:t>CONCEPT GRAPH + MASTERY HISTORY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BEC61-5963-45BC-9A9C-54ECECBFE09D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532C3-B5D4-4187-BEC3-97DDDA90D646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rial"/>
                <a:cs typeface="Arial"/>
              </a:rPr>
              <a:t>A resolved doubt should change what happens next</a:t>
            </a:r>
            <a:endParaRPr lang="en-IN" sz="3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654699-7CF9-44BC-BB32-C93FDBE77BE2}"/>
              </a:ext>
            </a:extLst>
          </p:cNvPr>
          <p:cNvSpPr/>
          <p:nvPr/>
        </p:nvSpPr>
        <p:spPr>
          <a:xfrm>
            <a:off x="812800" y="2159000"/>
            <a:ext cx="9652000" cy="3937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6D1CD2-DEAF-416C-996A-66B6A6E1A22A}"/>
              </a:ext>
            </a:extLst>
          </p:cNvPr>
          <p:cNvSpPr txBox="1"/>
          <p:nvPr/>
        </p:nvSpPr>
        <p:spPr>
          <a:xfrm>
            <a:off x="1117600" y="2438400"/>
            <a:ext cx="711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A9E5C1"/>
                </a:solidFill>
                <a:latin typeface="Arial"/>
                <a:cs typeface="Arial"/>
              </a:rPr>
              <a:t>CONCEPT GRAPH — LINEAR EQUATIONS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5241CE-1524-4A17-A29D-40403CE49054}"/>
              </a:ext>
            </a:extLst>
          </p:cNvPr>
          <p:cNvSpPr/>
          <p:nvPr/>
        </p:nvSpPr>
        <p:spPr>
          <a:xfrm>
            <a:off x="1219200" y="3581400"/>
            <a:ext cx="20320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A06E79-0B3C-4571-AE21-8E22CCD35137}"/>
              </a:ext>
            </a:extLst>
          </p:cNvPr>
          <p:cNvSpPr/>
          <p:nvPr/>
        </p:nvSpPr>
        <p:spPr>
          <a:xfrm>
            <a:off x="1219200" y="3581400"/>
            <a:ext cx="2032000" cy="508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7EC6E1-0415-4937-AA10-55960AE1AB6B}"/>
              </a:ext>
            </a:extLst>
          </p:cNvPr>
          <p:cNvSpPr txBox="1"/>
          <p:nvPr/>
        </p:nvSpPr>
        <p:spPr>
          <a:xfrm>
            <a:off x="1320800" y="3771900"/>
            <a:ext cx="1828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Integer
operations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346CB6-6280-47F3-8FE6-D24ABAE54ECA}"/>
              </a:ext>
            </a:extLst>
          </p:cNvPr>
          <p:cNvSpPr/>
          <p:nvPr/>
        </p:nvSpPr>
        <p:spPr>
          <a:xfrm>
            <a:off x="3606800" y="3581400"/>
            <a:ext cx="21590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C11847-7D0E-4873-A04E-3C3B9F1C71B0}"/>
              </a:ext>
            </a:extLst>
          </p:cNvPr>
          <p:cNvSpPr/>
          <p:nvPr/>
        </p:nvSpPr>
        <p:spPr>
          <a:xfrm>
            <a:off x="3606800" y="3581400"/>
            <a:ext cx="2159000" cy="508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3E82B6-152B-40DB-9B30-E0E2C15689ED}"/>
              </a:ext>
            </a:extLst>
          </p:cNvPr>
          <p:cNvSpPr txBox="1"/>
          <p:nvPr/>
        </p:nvSpPr>
        <p:spPr>
          <a:xfrm>
            <a:off x="3708400" y="3771900"/>
            <a:ext cx="1955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Equality
as balance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3E2F8A-2334-47CA-97E3-459AB4F1E76D}"/>
              </a:ext>
            </a:extLst>
          </p:cNvPr>
          <p:cNvSpPr/>
          <p:nvPr/>
        </p:nvSpPr>
        <p:spPr>
          <a:xfrm>
            <a:off x="6248400" y="3581400"/>
            <a:ext cx="21590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F4C041-C7D1-4851-ABFA-8E5262B1C7EB}"/>
              </a:ext>
            </a:extLst>
          </p:cNvPr>
          <p:cNvSpPr/>
          <p:nvPr/>
        </p:nvSpPr>
        <p:spPr>
          <a:xfrm>
            <a:off x="6248400" y="3581400"/>
            <a:ext cx="2159000" cy="508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7CAD97-2D69-46DB-BE30-CEF51BD1A6B6}"/>
              </a:ext>
            </a:extLst>
          </p:cNvPr>
          <p:cNvSpPr txBox="1"/>
          <p:nvPr/>
        </p:nvSpPr>
        <p:spPr>
          <a:xfrm>
            <a:off x="6350000" y="3771900"/>
            <a:ext cx="1955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Inverse
operations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59A290-BF9B-4CBF-8D65-E0E8AB7141DD}"/>
              </a:ext>
            </a:extLst>
          </p:cNvPr>
          <p:cNvSpPr/>
          <p:nvPr/>
        </p:nvSpPr>
        <p:spPr>
          <a:xfrm>
            <a:off x="8839200" y="2946400"/>
            <a:ext cx="12700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A0F3D4-DEF4-4751-B844-F0B1CAB777A4}"/>
              </a:ext>
            </a:extLst>
          </p:cNvPr>
          <p:cNvSpPr/>
          <p:nvPr/>
        </p:nvSpPr>
        <p:spPr>
          <a:xfrm>
            <a:off x="8839200" y="2946400"/>
            <a:ext cx="1270000" cy="508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8EA05B-BA69-4172-A6EA-49DC32EDBFC9}"/>
              </a:ext>
            </a:extLst>
          </p:cNvPr>
          <p:cNvSpPr txBox="1"/>
          <p:nvPr/>
        </p:nvSpPr>
        <p:spPr>
          <a:xfrm>
            <a:off x="8940800" y="3136900"/>
            <a:ext cx="1066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Multi-step
equations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41C49A-3F6B-4C99-AB61-EC5763B5FFD8}"/>
              </a:ext>
            </a:extLst>
          </p:cNvPr>
          <p:cNvSpPr/>
          <p:nvPr/>
        </p:nvSpPr>
        <p:spPr>
          <a:xfrm>
            <a:off x="8839200" y="4635500"/>
            <a:ext cx="1270000" cy="8128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CA4F39-AFC3-4A7F-8F7B-4B56C0ED52A9}"/>
              </a:ext>
            </a:extLst>
          </p:cNvPr>
          <p:cNvSpPr/>
          <p:nvPr/>
        </p:nvSpPr>
        <p:spPr>
          <a:xfrm>
            <a:off x="8839200" y="4635500"/>
            <a:ext cx="1270000" cy="508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4B4901-7312-4B6D-B681-FC49227802E1}"/>
              </a:ext>
            </a:extLst>
          </p:cNvPr>
          <p:cNvSpPr txBox="1"/>
          <p:nvPr/>
        </p:nvSpPr>
        <p:spPr>
          <a:xfrm>
            <a:off x="8940800" y="4826000"/>
            <a:ext cx="1066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Checking
a solution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1C26E25-6ADF-48BA-BF90-804A72A7EDA5}"/>
              </a:ext>
            </a:extLst>
          </p:cNvPr>
          <p:cNvSpPr/>
          <p:nvPr/>
        </p:nvSpPr>
        <p:spPr>
          <a:xfrm>
            <a:off x="3302000" y="3810000"/>
            <a:ext cx="228600" cy="3048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11AC468-B3A5-4F14-A650-E253502C4929}"/>
              </a:ext>
            </a:extLst>
          </p:cNvPr>
          <p:cNvSpPr/>
          <p:nvPr/>
        </p:nvSpPr>
        <p:spPr>
          <a:xfrm>
            <a:off x="5791200" y="3810000"/>
            <a:ext cx="381000" cy="3048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57C01278-B178-44EB-A7F3-FDA6551C2622}"/>
              </a:ext>
            </a:extLst>
          </p:cNvPr>
          <p:cNvSpPr/>
          <p:nvPr/>
        </p:nvSpPr>
        <p:spPr>
          <a:xfrm>
            <a:off x="8407400" y="3276600"/>
            <a:ext cx="381000" cy="3048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3D9C8B8A-9016-4F14-921A-E24DCDE1DFBD}"/>
              </a:ext>
            </a:extLst>
          </p:cNvPr>
          <p:cNvSpPr/>
          <p:nvPr/>
        </p:nvSpPr>
        <p:spPr>
          <a:xfrm>
            <a:off x="8407400" y="4927600"/>
            <a:ext cx="381000" cy="3048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25DF105-E288-4247-B562-7593FF975CCE}"/>
              </a:ext>
            </a:extLst>
          </p:cNvPr>
          <p:cNvSpPr/>
          <p:nvPr/>
        </p:nvSpPr>
        <p:spPr>
          <a:xfrm>
            <a:off x="3606800" y="4902200"/>
            <a:ext cx="2159000" cy="685800"/>
          </a:xfrm>
          <a:prstGeom prst="rect">
            <a:avLst/>
          </a:prstGeom>
          <a:solidFill>
            <a:srgbClr val="F4E5D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7B8071-5007-42DB-872D-D80BB82B4D98}"/>
              </a:ext>
            </a:extLst>
          </p:cNvPr>
          <p:cNvSpPr txBox="1"/>
          <p:nvPr/>
        </p:nvSpPr>
        <p:spPr>
          <a:xfrm>
            <a:off x="3759200" y="5041900"/>
            <a:ext cx="18542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000" b="1">
                <a:solidFill>
                  <a:srgbClr val="A65337"/>
                </a:solidFill>
                <a:latin typeface="Arial"/>
                <a:cs typeface="Arial"/>
              </a:rPr>
              <a:t>RELATED WEAK AREA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DFCD12-CA08-4AE8-A11C-A02F09A053CE}"/>
              </a:ext>
            </a:extLst>
          </p:cNvPr>
          <p:cNvSpPr txBox="1"/>
          <p:nvPr/>
        </p:nvSpPr>
        <p:spPr>
          <a:xfrm>
            <a:off x="3759200" y="5283200"/>
            <a:ext cx="18542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65337"/>
                </a:solidFill>
                <a:latin typeface="Arial"/>
                <a:cs typeface="Arial"/>
              </a:rPr>
              <a:t>integer sign errors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A9B5AF-AA98-453F-8643-90EC856CAB2E}"/>
              </a:ext>
            </a:extLst>
          </p:cNvPr>
          <p:cNvSpPr/>
          <p:nvPr/>
        </p:nvSpPr>
        <p:spPr>
          <a:xfrm>
            <a:off x="10871200" y="2159000"/>
            <a:ext cx="6604000" cy="393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4255B4-1EE0-428B-8AB6-19716CDF314C}"/>
              </a:ext>
            </a:extLst>
          </p:cNvPr>
          <p:cNvSpPr txBox="1"/>
          <p:nvPr/>
        </p:nvSpPr>
        <p:spPr>
          <a:xfrm>
            <a:off x="11176000" y="2463800"/>
            <a:ext cx="5715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123B2C"/>
                </a:solidFill>
                <a:latin typeface="Arial"/>
                <a:cs typeface="Arial"/>
              </a:rPr>
              <a:t>WHAT EACH CONCEPT NODE SHOWS</a:t>
            </a:r>
            <a:endParaRPr lang="en-IN" sz="17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801881-698A-411A-A8EE-208408DC2865}"/>
              </a:ext>
            </a:extLst>
          </p:cNvPr>
          <p:cNvSpPr txBox="1"/>
          <p:nvPr/>
        </p:nvSpPr>
        <p:spPr>
          <a:xfrm>
            <a:off x="11176000" y="30480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MASTERY STATE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C622E2-82BA-4E04-B9C1-66D280B3F758}"/>
              </a:ext>
            </a:extLst>
          </p:cNvPr>
          <p:cNvSpPr txBox="1"/>
          <p:nvPr/>
        </p:nvSpPr>
        <p:spPr>
          <a:xfrm>
            <a:off x="11176000" y="3327400"/>
            <a:ext cx="571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23B2C"/>
                </a:solidFill>
                <a:latin typeface="Arial"/>
                <a:cs typeface="Arial"/>
              </a:rPr>
              <a:t>Needs prerequisite support / developing / likely ready for transfer</a:t>
            </a:r>
            <a:endParaRPr lang="en-IN" sz="14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B884F8-E6F7-4C2D-B883-95E288DB742E}"/>
              </a:ext>
            </a:extLst>
          </p:cNvPr>
          <p:cNvSpPr txBox="1"/>
          <p:nvPr/>
        </p:nvSpPr>
        <p:spPr>
          <a:xfrm>
            <a:off x="11176000" y="4038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C49B7-E94A-418A-8918-91ADCF9FE56C}"/>
              </a:ext>
            </a:extLst>
          </p:cNvPr>
          <p:cNvSpPr txBox="1"/>
          <p:nvPr/>
        </p:nvSpPr>
        <p:spPr>
          <a:xfrm>
            <a:off x="11176000" y="4318000"/>
            <a:ext cx="571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123B2C"/>
                </a:solidFill>
                <a:latin typeface="Arial"/>
                <a:cs typeface="Arial"/>
              </a:rPr>
              <a:t>Independent correct responses, hint-assisted responses, and recent misconception tags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4AC09E-8F9D-489C-A323-BFD8CD4A0B4F}"/>
              </a:ext>
            </a:extLst>
          </p:cNvPr>
          <p:cNvSpPr txBox="1"/>
          <p:nvPr/>
        </p:nvSpPr>
        <p:spPr>
          <a:xfrm>
            <a:off x="11176000" y="50419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RECENCY + UNCERTAINTY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FEF057-5334-4701-919C-592B0F342B06}"/>
              </a:ext>
            </a:extLst>
          </p:cNvPr>
          <p:cNvSpPr txBox="1"/>
          <p:nvPr/>
        </p:nvSpPr>
        <p:spPr>
          <a:xfrm>
            <a:off x="11176000" y="5321300"/>
            <a:ext cx="5715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23B2C"/>
                </a:solidFill>
                <a:latin typeface="Arial"/>
                <a:cs typeface="Arial"/>
              </a:rPr>
              <a:t>When evidence was observed and how strong it is</a:t>
            </a:r>
            <a:endParaRPr lang="en-IN" sz="14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901A0D8-AD58-4CCE-9582-9D31E4E582F4}"/>
              </a:ext>
            </a:extLst>
          </p:cNvPr>
          <p:cNvSpPr/>
          <p:nvPr/>
        </p:nvSpPr>
        <p:spPr>
          <a:xfrm>
            <a:off x="812800" y="6553200"/>
            <a:ext cx="16662400" cy="26924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378467-CAA5-4A74-9F3B-17571C150266}"/>
              </a:ext>
            </a:extLst>
          </p:cNvPr>
          <p:cNvSpPr txBox="1"/>
          <p:nvPr/>
        </p:nvSpPr>
        <p:spPr>
          <a:xfrm>
            <a:off x="1117600" y="6832600"/>
            <a:ext cx="838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EVIDENCE LANGUAGE — NOT LEARNER LABELS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6BCAC0-99EC-46A9-83A0-D90EAE08B327}"/>
              </a:ext>
            </a:extLst>
          </p:cNvPr>
          <p:cNvSpPr txBox="1"/>
          <p:nvPr/>
        </p:nvSpPr>
        <p:spPr>
          <a:xfrm>
            <a:off x="1117600" y="7366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LIMITED EVIDENCE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D6FA88-F792-4AE2-A797-4B94EACA2C43}"/>
              </a:ext>
            </a:extLst>
          </p:cNvPr>
          <p:cNvSpPr txBox="1"/>
          <p:nvPr/>
        </p:nvSpPr>
        <p:spPr>
          <a:xfrm>
            <a:off x="4394200" y="73660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123B2C"/>
                </a:solidFill>
                <a:latin typeface="Arial"/>
                <a:cs typeface="Arial"/>
              </a:rPr>
              <a:t>Learner: “Let’s rebuild this idea.”</a:t>
            </a:r>
            <a:endParaRPr lang="en-IN" sz="13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9616C3-4DB8-47F4-9264-65DA338B6B19}"/>
              </a:ext>
            </a:extLst>
          </p:cNvPr>
          <p:cNvSpPr txBox="1"/>
          <p:nvPr/>
        </p:nvSpPr>
        <p:spPr>
          <a:xfrm>
            <a:off x="10795000" y="7366000"/>
            <a:ext cx="6223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>
                <a:solidFill>
                  <a:srgbClr val="123B2C"/>
                </a:solidFill>
                <a:latin typeface="Arial"/>
                <a:cs typeface="Arial"/>
              </a:rPr>
              <a:t>Teacher: “Needs prerequisite repair.”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918196-F4B2-4BFA-B14B-02B922259355}"/>
              </a:ext>
            </a:extLst>
          </p:cNvPr>
          <p:cNvSpPr txBox="1"/>
          <p:nvPr/>
        </p:nvSpPr>
        <p:spPr>
          <a:xfrm>
            <a:off x="1117600" y="7937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DEVELOPING EVIDENCE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2CADF2-172F-452C-822C-635A809A3D38}"/>
              </a:ext>
            </a:extLst>
          </p:cNvPr>
          <p:cNvSpPr txBox="1"/>
          <p:nvPr/>
        </p:nvSpPr>
        <p:spPr>
          <a:xfrm>
            <a:off x="4394200" y="79375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123B2C"/>
                </a:solidFill>
                <a:latin typeface="Arial"/>
                <a:cs typeface="Arial"/>
              </a:rPr>
              <a:t>Learner: “Getting there—one more check.”</a:t>
            </a:r>
            <a:endParaRPr lang="en-IN" sz="13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2D1986-B5BB-40D7-99A2-648B7D9FE23A}"/>
              </a:ext>
            </a:extLst>
          </p:cNvPr>
          <p:cNvSpPr txBox="1"/>
          <p:nvPr/>
        </p:nvSpPr>
        <p:spPr>
          <a:xfrm>
            <a:off x="10795000" y="7937500"/>
            <a:ext cx="6223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123B2C"/>
                </a:solidFill>
                <a:latin typeface="Arial"/>
                <a:cs typeface="Arial"/>
              </a:rPr>
              <a:t>Teacher: “Developing; evidence still limited.”</a:t>
            </a:r>
            <a:endParaRPr lang="en-IN" sz="13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9210A1-7B2F-4E18-AAD9-CD6BE9DBBF50}"/>
              </a:ext>
            </a:extLst>
          </p:cNvPr>
          <p:cNvSpPr txBox="1"/>
          <p:nvPr/>
        </p:nvSpPr>
        <p:spPr>
          <a:xfrm>
            <a:off x="1117600" y="8509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2F7D5A"/>
                </a:solidFill>
                <a:latin typeface="Arial"/>
                <a:cs typeface="Arial"/>
              </a:rPr>
              <a:t>INDEPENDENT TRANSFER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5A2CDA-2E5E-41C7-ABEF-DC95CB32328E}"/>
              </a:ext>
            </a:extLst>
          </p:cNvPr>
          <p:cNvSpPr txBox="1"/>
          <p:nvPr/>
        </p:nvSpPr>
        <p:spPr>
          <a:xfrm>
            <a:off x="4394200" y="85090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123B2C"/>
                </a:solidFill>
                <a:latin typeface="Arial"/>
                <a:cs typeface="Arial"/>
              </a:rPr>
              <a:t>Learner: “Ready for the next challenge.”</a:t>
            </a:r>
            <a:endParaRPr lang="en-IN" sz="1300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0F02B0-7097-442E-B99C-164DA0963D10}"/>
              </a:ext>
            </a:extLst>
          </p:cNvPr>
          <p:cNvSpPr txBox="1"/>
          <p:nvPr/>
        </p:nvSpPr>
        <p:spPr>
          <a:xfrm>
            <a:off x="10795000" y="8509000"/>
            <a:ext cx="6223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123B2C"/>
                </a:solidFill>
                <a:latin typeface="Arial"/>
                <a:cs typeface="Arial"/>
              </a:rPr>
              <a:t>Teacher: “Likely mastered; confirm with transfer.”</a:t>
            </a:r>
            <a:endParaRPr lang="en-IN" sz="1300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750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0D2B13-0A77-41C2-B77C-8CAD0DC294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1C012-7E19-4F96-9471-F8F10E80CE54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EVALUATOR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92726-7A26-4141-99C9-00ECF1C2E2A4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CC566-6DBA-4AA6-974E-C2B6D30AB6CD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The teacher view turns evidence into a 2-minute intervention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070E4-D11A-405E-880C-9A7480523AC2}"/>
              </a:ext>
            </a:extLst>
          </p:cNvPr>
          <p:cNvSpPr/>
          <p:nvPr/>
        </p:nvSpPr>
        <p:spPr>
          <a:xfrm>
            <a:off x="812800" y="2108200"/>
            <a:ext cx="9144000" cy="51816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3206D3-10A0-4812-A292-36EF50F3A906}"/>
              </a:ext>
            </a:extLst>
          </p:cNvPr>
          <p:cNvSpPr/>
          <p:nvPr/>
        </p:nvSpPr>
        <p:spPr>
          <a:xfrm>
            <a:off x="812800" y="2108200"/>
            <a:ext cx="91440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FBCF6-B69A-4606-885D-E22E2CDC63CF}"/>
              </a:ext>
            </a:extLst>
          </p:cNvPr>
          <p:cNvSpPr txBox="1"/>
          <p:nvPr/>
        </p:nvSpPr>
        <p:spPr>
          <a:xfrm>
            <a:off x="1041400" y="2362200"/>
            <a:ext cx="86868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VERIFIED DASHBOARD SCREENSHOT PLACEHOLDER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D8FE5-E72D-4ECB-8E0E-7B0E7063D5D4}"/>
              </a:ext>
            </a:extLst>
          </p:cNvPr>
          <p:cNvSpPr txBox="1"/>
          <p:nvPr/>
        </p:nvSpPr>
        <p:spPr>
          <a:xfrm>
            <a:off x="1193800" y="3022600"/>
            <a:ext cx="8382000" cy="3911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5B7167"/>
                </a:solidFill>
                <a:latin typeface="Arial"/>
                <a:cs typeface="Arial"/>
              </a:rPr>
              <a:t>Suggested crop: cohort route distribution + misconception cluster + intervention panel. Use pseudonymous learner data only.</a:t>
            </a:r>
            <a:endParaRPr lang="en-IN" sz="15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843FC-2F25-468A-8CA9-744BFC5217C1}"/>
              </a:ext>
            </a:extLst>
          </p:cNvPr>
          <p:cNvSpPr/>
          <p:nvPr/>
        </p:nvSpPr>
        <p:spPr>
          <a:xfrm>
            <a:off x="10363200" y="2108200"/>
            <a:ext cx="7112000" cy="2463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60BE90-AC92-4F9A-9B42-FF15B19B5FFD}"/>
              </a:ext>
            </a:extLst>
          </p:cNvPr>
          <p:cNvSpPr/>
          <p:nvPr/>
        </p:nvSpPr>
        <p:spPr>
          <a:xfrm>
            <a:off x="10363200" y="2108200"/>
            <a:ext cx="71120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FB3E3-AF0E-4A98-BEE8-36303C2A4C04}"/>
              </a:ext>
            </a:extLst>
          </p:cNvPr>
          <p:cNvSpPr txBox="1"/>
          <p:nvPr/>
        </p:nvSpPr>
        <p:spPr>
          <a:xfrm>
            <a:off x="10668000" y="24130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123B2C"/>
                </a:solidFill>
                <a:latin typeface="Arial"/>
                <a:cs typeface="Arial"/>
              </a:rPr>
              <a:t>STUDENT INTERVENTION CARD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FB07E-CA82-4212-937B-6B4053AAF8D5}"/>
              </a:ext>
            </a:extLst>
          </p:cNvPr>
          <p:cNvSpPr txBox="1"/>
          <p:nvPr/>
        </p:nvSpPr>
        <p:spPr>
          <a:xfrm>
            <a:off x="10668000" y="2895600"/>
            <a:ext cx="6350000" cy="147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>
                <a:solidFill>
                  <a:srgbClr val="5B7167"/>
                </a:solidFill>
                <a:latin typeface="Arial"/>
                <a:cs typeface="Arial"/>
              </a:rPr>
              <a:t>Learner: [Pseudonymous learner]
Path: Grade-Level · Target: Multi-step equations
Likely blocker: Inverse operations · confidence: medium
Evidence: repeatedly stops before dividing coefficient
2-minute action: solve 3x = 21 on a mini-whiteboard
Sync: 2 local attempts pending upload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3C2615-DD7E-4122-9A90-DDAD42F55F29}"/>
              </a:ext>
            </a:extLst>
          </p:cNvPr>
          <p:cNvSpPr/>
          <p:nvPr/>
        </p:nvSpPr>
        <p:spPr>
          <a:xfrm>
            <a:off x="10363200" y="4826000"/>
            <a:ext cx="7112000" cy="2463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45D0AB-C63B-4357-B167-9CA799CEC10A}"/>
              </a:ext>
            </a:extLst>
          </p:cNvPr>
          <p:cNvSpPr/>
          <p:nvPr/>
        </p:nvSpPr>
        <p:spPr>
          <a:xfrm>
            <a:off x="10363200" y="4826000"/>
            <a:ext cx="7112000" cy="76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F4CEA-A97B-4DF8-A782-4DC77DDC6C6A}"/>
              </a:ext>
            </a:extLst>
          </p:cNvPr>
          <p:cNvSpPr txBox="1"/>
          <p:nvPr/>
        </p:nvSpPr>
        <p:spPr>
          <a:xfrm>
            <a:off x="10668000" y="5130800"/>
            <a:ext cx="5969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123B2C"/>
                </a:solidFill>
                <a:latin typeface="Arial"/>
                <a:cs typeface="Arial"/>
              </a:rPr>
              <a:t>CLUSTER INTERVENTION CARD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DE32AD-E132-40F2-A21E-E04E61451EAD}"/>
              </a:ext>
            </a:extLst>
          </p:cNvPr>
          <p:cNvSpPr txBox="1"/>
          <p:nvPr/>
        </p:nvSpPr>
        <p:spPr>
          <a:xfrm>
            <a:off x="10668000" y="5613400"/>
            <a:ext cx="6350000" cy="127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B7167"/>
                </a:solidFill>
                <a:latin typeface="Arial"/>
                <a:cs typeface="Arial"/>
              </a:rPr>
              <a:t>Cluster: Stops before dividing the coefficient
Concept: Inverse operations
Why it matters: prerequisite for multi-step equations
Teacher move: “In 3x = 21, is x alone yet? What undoes ×3?”</a:t>
            </a:r>
            <a:endParaRPr lang="en-IN" sz="13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C86D97-50CA-4BA4-9E14-A9C39CB02965}"/>
              </a:ext>
            </a:extLst>
          </p:cNvPr>
          <p:cNvSpPr/>
          <p:nvPr/>
        </p:nvSpPr>
        <p:spPr>
          <a:xfrm>
            <a:off x="812800" y="7721600"/>
            <a:ext cx="16662400" cy="1651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C5B07B-9D5A-4F09-A451-C3D61D0793BB}"/>
              </a:ext>
            </a:extLst>
          </p:cNvPr>
          <p:cNvSpPr txBox="1"/>
          <p:nvPr/>
        </p:nvSpPr>
        <p:spPr>
          <a:xfrm>
            <a:off x="1117600" y="79629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F2C94C"/>
                </a:solidFill>
                <a:latin typeface="Arial"/>
                <a:cs typeface="Arial"/>
              </a:rPr>
              <a:t>COHORT COMMAND 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20D49B-BEAE-4B66-ACFA-4F9920C55E02}"/>
              </a:ext>
            </a:extLst>
          </p:cNvPr>
          <p:cNvSpPr txBox="1"/>
          <p:nvPr/>
        </p:nvSpPr>
        <p:spPr>
          <a:xfrm>
            <a:off x="1117600" y="8394700"/>
            <a:ext cx="7493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Starting routes · completion + offline-pending sessions · misconception clusters ranked by impact and recency</a:t>
            </a:r>
            <a:endParaRPr lang="en-IN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1B582A-CA9E-48A1-B763-EAB5B441FD23}"/>
              </a:ext>
            </a:extLst>
          </p:cNvPr>
          <p:cNvSpPr txBox="1"/>
          <p:nvPr/>
        </p:nvSpPr>
        <p:spPr>
          <a:xfrm>
            <a:off x="9144000" y="8394700"/>
            <a:ext cx="787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  <a:latin typeface="Arial"/>
                <a:cs typeface="Arial"/>
              </a:rPr>
              <a:t>Learner evidence + likely blocker · one ranked intervention recommendation · cohort trends without public ranking</a:t>
            </a:r>
            <a:endParaRPr lang="en-IN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AE04F4-1F3F-210A-6253-C3E3720EF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2171700"/>
            <a:ext cx="9143999" cy="51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50"/>
                            </p:stCondLst>
                            <p:childTnLst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50"/>
                            </p:stCondLst>
                            <p:childTnLst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5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350"/>
                            </p:stCondLst>
                            <p:childTnLst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85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50"/>
                            </p:stCondLst>
                            <p:childTnLst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F94FEED-0869-44AE-B39C-5E7A6303BF9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4E76A-1588-4339-AACA-E27B29E22421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9E5C1"/>
                </a:solidFill>
                <a:latin typeface="Arial"/>
                <a:cs typeface="Arial"/>
              </a:rPr>
              <a:t>OFFLINE-FIRST, LOW-BANDWIDTH ARCHITECTURE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CA4CC2-68EB-49D0-AE92-D29E775338B6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34140E-7267-49CC-B121-2AEA3D916439}"/>
              </a:ext>
            </a:extLst>
          </p:cNvPr>
          <p:cNvSpPr txBox="1"/>
          <p:nvPr/>
        </p:nvSpPr>
        <p:spPr>
          <a:xfrm>
            <a:off x="812800" y="1041400"/>
            <a:ext cx="15240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Useful before the network is perfect</a:t>
            </a:r>
            <a:endParaRPr lang="en-IN" sz="4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BD0524-F107-4256-8518-FAC50309176C}"/>
              </a:ext>
            </a:extLst>
          </p:cNvPr>
          <p:cNvSpPr/>
          <p:nvPr/>
        </p:nvSpPr>
        <p:spPr>
          <a:xfrm>
            <a:off x="812800" y="2336800"/>
            <a:ext cx="3619500" cy="3810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8913AF-5954-4524-9204-28EC6213793D}"/>
              </a:ext>
            </a:extLst>
          </p:cNvPr>
          <p:cNvSpPr/>
          <p:nvPr/>
        </p:nvSpPr>
        <p:spPr>
          <a:xfrm>
            <a:off x="812800" y="2336800"/>
            <a:ext cx="3619500" cy="889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04D20C-3A63-49D6-8AD6-6E691739BD0D}"/>
              </a:ext>
            </a:extLst>
          </p:cNvPr>
          <p:cNvSpPr txBox="1"/>
          <p:nvPr/>
        </p:nvSpPr>
        <p:spPr>
          <a:xfrm>
            <a:off x="1066800" y="26797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  <a:latin typeface="Arial"/>
                <a:cs typeface="Arial"/>
              </a:rPr>
              <a:t>LEARNER PWA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4B3E7A-4510-4B55-A694-A22098206E2B}"/>
              </a:ext>
            </a:extLst>
          </p:cNvPr>
          <p:cNvSpPr txBox="1"/>
          <p:nvPr/>
        </p:nvSpPr>
        <p:spPr>
          <a:xfrm>
            <a:off x="1066800" y="3352800"/>
            <a:ext cx="3111500" cy="241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>
                <a:solidFill>
                  <a:srgbClr val="D6E7DE"/>
                </a:solidFill>
                <a:latin typeface="Arial"/>
                <a:cs typeface="Arial"/>
              </a:rPr>
              <a:t>Cached app shell + text-first micro-lessons
Local concept / question bundle
IndexedDB outbox for attempts and progress
Visible sync state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840640B-EBDE-4E15-8D21-19D413E381D4}"/>
              </a:ext>
            </a:extLst>
          </p:cNvPr>
          <p:cNvSpPr/>
          <p:nvPr/>
        </p:nvSpPr>
        <p:spPr>
          <a:xfrm>
            <a:off x="4546600" y="4038600"/>
            <a:ext cx="431800" cy="3302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65BBD1-1967-40BA-8090-6952FB574527}"/>
              </a:ext>
            </a:extLst>
          </p:cNvPr>
          <p:cNvSpPr/>
          <p:nvPr/>
        </p:nvSpPr>
        <p:spPr>
          <a:xfrm>
            <a:off x="5105400" y="2336800"/>
            <a:ext cx="3619500" cy="3810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4D9902-341C-4336-AEBE-5B34FE815658}"/>
              </a:ext>
            </a:extLst>
          </p:cNvPr>
          <p:cNvSpPr/>
          <p:nvPr/>
        </p:nvSpPr>
        <p:spPr>
          <a:xfrm>
            <a:off x="5105400" y="2336800"/>
            <a:ext cx="3619500" cy="889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D40AF6-B665-4340-8491-49CD66B80B15}"/>
              </a:ext>
            </a:extLst>
          </p:cNvPr>
          <p:cNvSpPr txBox="1"/>
          <p:nvPr/>
        </p:nvSpPr>
        <p:spPr>
          <a:xfrm>
            <a:off x="5359400" y="26797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  <a:latin typeface="Arial"/>
                <a:cs typeface="Arial"/>
              </a:rPr>
              <a:t>FASTAPI SERVICE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201697-988B-4948-9EC8-8BDD9FCC78DD}"/>
              </a:ext>
            </a:extLst>
          </p:cNvPr>
          <p:cNvSpPr txBox="1"/>
          <p:nvPr/>
        </p:nvSpPr>
        <p:spPr>
          <a:xfrm>
            <a:off x="5359400" y="3352800"/>
            <a:ext cx="3111500" cy="241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Deterministic diagnostic and mastery logic
Curriculum-scoped tutor orchestration
Idempotent event reconciliation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6874779-9A4E-4712-BC7D-4620949AAB07}"/>
              </a:ext>
            </a:extLst>
          </p:cNvPr>
          <p:cNvSpPr/>
          <p:nvPr/>
        </p:nvSpPr>
        <p:spPr>
          <a:xfrm>
            <a:off x="8839200" y="4038600"/>
            <a:ext cx="431800" cy="3302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7D3358-2D53-4CDF-B2C0-2F5753C3A722}"/>
              </a:ext>
            </a:extLst>
          </p:cNvPr>
          <p:cNvSpPr/>
          <p:nvPr/>
        </p:nvSpPr>
        <p:spPr>
          <a:xfrm>
            <a:off x="9398000" y="2336800"/>
            <a:ext cx="3619500" cy="3810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482D72-754F-4A17-BE5B-D8FE486F0BED}"/>
              </a:ext>
            </a:extLst>
          </p:cNvPr>
          <p:cNvSpPr/>
          <p:nvPr/>
        </p:nvSpPr>
        <p:spPr>
          <a:xfrm>
            <a:off x="9398000" y="2336800"/>
            <a:ext cx="3619500" cy="88900"/>
          </a:xfrm>
          <a:prstGeom prst="rect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C04197-CCF4-489F-8357-DA0E93F13A1F}"/>
              </a:ext>
            </a:extLst>
          </p:cNvPr>
          <p:cNvSpPr txBox="1"/>
          <p:nvPr/>
        </p:nvSpPr>
        <p:spPr>
          <a:xfrm>
            <a:off x="9652000" y="26797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  <a:latin typeface="Arial"/>
                <a:cs typeface="Arial"/>
              </a:rPr>
              <a:t>POSTGRESQL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9BF1E9-7B4E-4F6C-BE61-7BEFE1BAAD34}"/>
              </a:ext>
            </a:extLst>
          </p:cNvPr>
          <p:cNvSpPr txBox="1"/>
          <p:nvPr/>
        </p:nvSpPr>
        <p:spPr>
          <a:xfrm>
            <a:off x="9652000" y="3352800"/>
            <a:ext cx="3111500" cy="241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Curriculum sources and concepts
Attempts + mastery history
Teacher read models and intervention clusters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877EF0AD-3844-4970-AB63-BDEB50698D78}"/>
              </a:ext>
            </a:extLst>
          </p:cNvPr>
          <p:cNvSpPr/>
          <p:nvPr/>
        </p:nvSpPr>
        <p:spPr>
          <a:xfrm>
            <a:off x="13131800" y="4038600"/>
            <a:ext cx="431800" cy="330200"/>
          </a:xfrm>
          <a:prstGeom prst="rightArrow">
            <a:avLst/>
          </a:prstGeom>
          <a:solidFill>
            <a:srgbClr val="A9E5C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D63D63-0A41-4784-B070-1220E943B13B}"/>
              </a:ext>
            </a:extLst>
          </p:cNvPr>
          <p:cNvSpPr/>
          <p:nvPr/>
        </p:nvSpPr>
        <p:spPr>
          <a:xfrm>
            <a:off x="13690600" y="2336800"/>
            <a:ext cx="3619500" cy="3810000"/>
          </a:xfrm>
          <a:prstGeom prst="rect">
            <a:avLst/>
          </a:prstGeom>
          <a:solidFill>
            <a:srgbClr val="123F3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A5684D-F7B1-42FE-B42F-D243E10E462F}"/>
              </a:ext>
            </a:extLst>
          </p:cNvPr>
          <p:cNvSpPr/>
          <p:nvPr/>
        </p:nvSpPr>
        <p:spPr>
          <a:xfrm>
            <a:off x="13690600" y="2336800"/>
            <a:ext cx="3619500" cy="889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A7D0CA-324B-4C69-A5E2-780FBF1EA008}"/>
              </a:ext>
            </a:extLst>
          </p:cNvPr>
          <p:cNvSpPr txBox="1"/>
          <p:nvPr/>
        </p:nvSpPr>
        <p:spPr>
          <a:xfrm>
            <a:off x="13944600" y="26797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000" b="1">
                <a:solidFill>
                  <a:srgbClr val="F2C94C"/>
                </a:solidFill>
                <a:latin typeface="Arial"/>
                <a:cs typeface="Arial"/>
              </a:rPr>
              <a:t>OPTIONAL LLM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43CAA2-0E40-4B40-AC08-743AD25356F6}"/>
              </a:ext>
            </a:extLst>
          </p:cNvPr>
          <p:cNvSpPr txBox="1"/>
          <p:nvPr/>
        </p:nvSpPr>
        <p:spPr>
          <a:xfrm>
            <a:off x="13944600" y="3352800"/>
            <a:ext cx="3111500" cy="241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D6E7DE"/>
                </a:solidFill>
                <a:latin typeface="Arial"/>
                <a:cs typeface="Arial"/>
              </a:rPr>
              <a:t>Cited, schema-validated phrasing only
Bounded to supplied curriculum context
Core loop remains available without inference</a:t>
            </a:r>
            <a:endParaRPr lang="en-IN" sz="14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54CE38-D2BD-425F-A781-725D317BEC5E}"/>
              </a:ext>
            </a:extLst>
          </p:cNvPr>
          <p:cNvSpPr/>
          <p:nvPr/>
        </p:nvSpPr>
        <p:spPr>
          <a:xfrm>
            <a:off x="812800" y="6654800"/>
            <a:ext cx="16662400" cy="2286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7376A3-0823-48DA-8EE6-F89EE0534639}"/>
              </a:ext>
            </a:extLst>
          </p:cNvPr>
          <p:cNvSpPr txBox="1"/>
          <p:nvPr/>
        </p:nvSpPr>
        <p:spPr>
          <a:xfrm>
            <a:off x="1117600" y="69596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23B2C"/>
                </a:solidFill>
                <a:latin typeface="Arial"/>
                <a:cs typeface="Arial"/>
              </a:rPr>
              <a:t>WHY THESE CHOICES ARE CREDIBLE</a:t>
            </a:r>
            <a:endParaRPr lang="en-IN" sz="16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9B4163-AFDE-4F89-A432-9546FA82671B}"/>
              </a:ext>
            </a:extLst>
          </p:cNvPr>
          <p:cNvSpPr/>
          <p:nvPr/>
        </p:nvSpPr>
        <p:spPr>
          <a:xfrm>
            <a:off x="1117600" y="7493000"/>
            <a:ext cx="2895600" cy="101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537672-329D-4BA0-89F6-90C301CAE1D2}"/>
              </a:ext>
            </a:extLst>
          </p:cNvPr>
          <p:cNvSpPr/>
          <p:nvPr/>
        </p:nvSpPr>
        <p:spPr>
          <a:xfrm>
            <a:off x="1117600" y="7493000"/>
            <a:ext cx="63500" cy="10160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B25D59-5F36-43EA-A285-5458EE3C90D7}"/>
              </a:ext>
            </a:extLst>
          </p:cNvPr>
          <p:cNvSpPr txBox="1"/>
          <p:nvPr/>
        </p:nvSpPr>
        <p:spPr>
          <a:xfrm>
            <a:off x="1320800" y="7670800"/>
            <a:ext cx="2489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123B2C"/>
                </a:solidFill>
                <a:latin typeface="Arial"/>
                <a:cs typeface="Arial"/>
              </a:rPr>
              <a:t>PWA + CACHE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E418FB-9859-4FE9-B5D9-9421871E18E8}"/>
              </a:ext>
            </a:extLst>
          </p:cNvPr>
          <p:cNvSpPr txBox="1"/>
          <p:nvPr/>
        </p:nvSpPr>
        <p:spPr>
          <a:xfrm>
            <a:off x="1320800" y="7988300"/>
            <a:ext cx="2489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>
                <a:solidFill>
                  <a:srgbClr val="5B7167"/>
                </a:solidFill>
                <a:latin typeface="Arial"/>
                <a:cs typeface="Arial"/>
              </a:rPr>
              <a:t>Useful during poor connectivity.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7F7AAD-23EC-4DFD-A0FB-B77745F9C5D4}"/>
              </a:ext>
            </a:extLst>
          </p:cNvPr>
          <p:cNvSpPr/>
          <p:nvPr/>
        </p:nvSpPr>
        <p:spPr>
          <a:xfrm>
            <a:off x="4343400" y="7493000"/>
            <a:ext cx="2895600" cy="101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B7915D7-3AD9-4887-A171-2F02485B525A}"/>
              </a:ext>
            </a:extLst>
          </p:cNvPr>
          <p:cNvSpPr/>
          <p:nvPr/>
        </p:nvSpPr>
        <p:spPr>
          <a:xfrm>
            <a:off x="4343400" y="7493000"/>
            <a:ext cx="63500" cy="10160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B5051F-DBE1-4E9B-8851-78B7A48E0A72}"/>
              </a:ext>
            </a:extLst>
          </p:cNvPr>
          <p:cNvSpPr txBox="1"/>
          <p:nvPr/>
        </p:nvSpPr>
        <p:spPr>
          <a:xfrm>
            <a:off x="4546600" y="7670800"/>
            <a:ext cx="2489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123B2C"/>
                </a:solidFill>
                <a:latin typeface="Arial"/>
                <a:cs typeface="Arial"/>
              </a:rPr>
              <a:t>TEXT-FIRST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5D263C-99AF-4A7E-BA91-F2673F3C5767}"/>
              </a:ext>
            </a:extLst>
          </p:cNvPr>
          <p:cNvSpPr txBox="1"/>
          <p:nvPr/>
        </p:nvSpPr>
        <p:spPr>
          <a:xfrm>
            <a:off x="4546600" y="7988300"/>
            <a:ext cx="2489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B7167"/>
                </a:solidFill>
                <a:latin typeface="Arial"/>
                <a:cs typeface="Arial"/>
              </a:rPr>
              <a:t>Low data cost and quick first paint.</a:t>
            </a:r>
            <a:endParaRPr lang="en-IN" sz="12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6FBE7C-2E03-40DD-8E76-18FA02419DB3}"/>
              </a:ext>
            </a:extLst>
          </p:cNvPr>
          <p:cNvSpPr/>
          <p:nvPr/>
        </p:nvSpPr>
        <p:spPr>
          <a:xfrm>
            <a:off x="7569200" y="7493000"/>
            <a:ext cx="2895600" cy="101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0F4F98C-35A7-45B3-B449-DC034F1C5D7F}"/>
              </a:ext>
            </a:extLst>
          </p:cNvPr>
          <p:cNvSpPr/>
          <p:nvPr/>
        </p:nvSpPr>
        <p:spPr>
          <a:xfrm>
            <a:off x="7569200" y="7493000"/>
            <a:ext cx="63500" cy="10160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5AAD75-69D9-44F9-AB6B-DF7176CC2724}"/>
              </a:ext>
            </a:extLst>
          </p:cNvPr>
          <p:cNvSpPr txBox="1"/>
          <p:nvPr/>
        </p:nvSpPr>
        <p:spPr>
          <a:xfrm>
            <a:off x="7772400" y="7670800"/>
            <a:ext cx="2489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123B2C"/>
                </a:solidFill>
                <a:latin typeface="Arial"/>
                <a:cs typeface="Arial"/>
              </a:rPr>
              <a:t>LOCAL OUTBOX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7D2F4D-5C45-4390-9EF0-76BC0674B7DA}"/>
              </a:ext>
            </a:extLst>
          </p:cNvPr>
          <p:cNvSpPr txBox="1"/>
          <p:nvPr/>
        </p:nvSpPr>
        <p:spPr>
          <a:xfrm>
            <a:off x="7772400" y="7988300"/>
            <a:ext cx="2489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B7167"/>
                </a:solidFill>
                <a:latin typeface="Arial"/>
                <a:cs typeface="Arial"/>
              </a:rPr>
              <a:t>Learner work is not discarded.</a:t>
            </a:r>
            <a:endParaRPr lang="en-IN" sz="12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D0E146A-C5E0-49F2-B777-9DB5F4958190}"/>
              </a:ext>
            </a:extLst>
          </p:cNvPr>
          <p:cNvSpPr/>
          <p:nvPr/>
        </p:nvSpPr>
        <p:spPr>
          <a:xfrm>
            <a:off x="10795000" y="7493000"/>
            <a:ext cx="2895600" cy="101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48FD9C-EAA4-4548-9DA0-65BCAEA8610D}"/>
              </a:ext>
            </a:extLst>
          </p:cNvPr>
          <p:cNvSpPr/>
          <p:nvPr/>
        </p:nvSpPr>
        <p:spPr>
          <a:xfrm>
            <a:off x="10795000" y="7493000"/>
            <a:ext cx="63500" cy="10160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4C9CFE-C0C1-4ABE-AF1F-2410796F6220}"/>
              </a:ext>
            </a:extLst>
          </p:cNvPr>
          <p:cNvSpPr txBox="1"/>
          <p:nvPr/>
        </p:nvSpPr>
        <p:spPr>
          <a:xfrm>
            <a:off x="10998200" y="7670800"/>
            <a:ext cx="2489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123B2C"/>
                </a:solidFill>
                <a:latin typeface="Arial"/>
                <a:cs typeface="Arial"/>
              </a:rPr>
              <a:t>IDEMPOTENT EVENTS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452614-DD68-4330-B927-8331B4536C3D}"/>
              </a:ext>
            </a:extLst>
          </p:cNvPr>
          <p:cNvSpPr txBox="1"/>
          <p:nvPr/>
        </p:nvSpPr>
        <p:spPr>
          <a:xfrm>
            <a:off x="10998200" y="7988300"/>
            <a:ext cx="2489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>
                <a:solidFill>
                  <a:srgbClr val="5B7167"/>
                </a:solidFill>
                <a:latin typeface="Arial"/>
                <a:cs typeface="Arial"/>
              </a:rPr>
              <a:t>Retries cannot duplicate attempts.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DE784E9-DE58-43DF-9BF9-1818FCA5747C}"/>
              </a:ext>
            </a:extLst>
          </p:cNvPr>
          <p:cNvSpPr/>
          <p:nvPr/>
        </p:nvSpPr>
        <p:spPr>
          <a:xfrm>
            <a:off x="14020800" y="7493000"/>
            <a:ext cx="2895600" cy="1016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65C0C5-905A-425A-A56F-4CD61F8BBAF9}"/>
              </a:ext>
            </a:extLst>
          </p:cNvPr>
          <p:cNvSpPr/>
          <p:nvPr/>
        </p:nvSpPr>
        <p:spPr>
          <a:xfrm>
            <a:off x="14020800" y="7493000"/>
            <a:ext cx="63500" cy="10160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7DAFB7-B2D2-4D76-95B8-FBB7897A4018}"/>
              </a:ext>
            </a:extLst>
          </p:cNvPr>
          <p:cNvSpPr txBox="1"/>
          <p:nvPr/>
        </p:nvSpPr>
        <p:spPr>
          <a:xfrm>
            <a:off x="14224000" y="7670800"/>
            <a:ext cx="2489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123B2C"/>
                </a:solidFill>
                <a:latin typeface="Arial"/>
                <a:cs typeface="Arial"/>
              </a:rPr>
              <a:t>OPTIONAL LLM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D4025A-9A1E-4A89-81CE-F141A9C01A86}"/>
              </a:ext>
            </a:extLst>
          </p:cNvPr>
          <p:cNvSpPr txBox="1"/>
          <p:nvPr/>
        </p:nvSpPr>
        <p:spPr>
          <a:xfrm>
            <a:off x="14224000" y="7988300"/>
            <a:ext cx="2489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5B7167"/>
                </a:solidFill>
                <a:latin typeface="Arial"/>
                <a:cs typeface="Arial"/>
              </a:rPr>
              <a:t>Diagnosis and authored fallback remain available.</a:t>
            </a:r>
            <a:endParaRPr lang="en-IN" sz="1200">
              <a:solidFill>
                <a:srgbClr val="5B7167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151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5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50"/>
                            </p:stCondLst>
                            <p:childTnLst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5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50"/>
                            </p:stCondLst>
                            <p:childTnLst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35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50"/>
                            </p:stCondLst>
                            <p:childTnLst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35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350"/>
                            </p:stCondLst>
                            <p:childTnLst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85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350"/>
                            </p:stCondLst>
                            <p:childTnLst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850"/>
                            </p:stCondLst>
                            <p:childTnLst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50"/>
                            </p:stCondLst>
                            <p:childTnLst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850"/>
                            </p:stCondLst>
                            <p:childTnLst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50"/>
                            </p:stCondLst>
                            <p:childTnLst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50"/>
                            </p:stCondLst>
                            <p:childTnLst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A259EDB-6779-448A-9C4A-64213563FDA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F8DAC-A21F-45F3-B2A1-A2803EA27128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2F7D5A"/>
                </a:solidFill>
                <a:latin typeface="Arial"/>
                <a:cs typeface="Arial"/>
              </a:rPr>
              <a:t>TRUST, SAFETY, PRIVACY, AND FAIRNESS</a:t>
            </a:r>
            <a:endParaRPr lang="en-IN" sz="1100" b="1">
              <a:solidFill>
                <a:srgbClr val="2F7D5A"/>
              </a:solidFill>
              <a:latin typeface="Arial"/>
              <a:cs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2B88C-B95E-4FCD-8A6C-C95515689A88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BEC67F-49CE-475E-A4BE-9E41EF6139A6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123B2C"/>
                </a:solidFill>
                <a:latin typeface="Arial"/>
                <a:cs typeface="Arial"/>
              </a:rPr>
              <a:t>Trust is a feature—not a footer</a:t>
            </a:r>
            <a:endParaRPr lang="en-IN" sz="4000" b="1">
              <a:solidFill>
                <a:srgbClr val="123B2C"/>
              </a:solidFill>
              <a:latin typeface="Arial"/>
              <a:cs typeface="Arial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5D227B2-580D-4BE2-8CF5-6E5EB20D0362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2108200"/>
          <a:ext cx="16662400" cy="612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1200">
                  <a:extLst>
                    <a:ext uri="{9D8B030D-6E8A-4147-A177-3AD203B41FA5}">
                      <a16:colId xmlns:a16="http://schemas.microsoft.com/office/drawing/2014/main" val="1984669627"/>
                    </a:ext>
                  </a:extLst>
                </a:gridCol>
                <a:gridCol w="8331200">
                  <a:extLst>
                    <a:ext uri="{9D8B030D-6E8A-4147-A177-3AD203B41FA5}">
                      <a16:colId xmlns:a16="http://schemas.microsoft.com/office/drawing/2014/main" val="4027729040"/>
                    </a:ext>
                  </a:extLst>
                </a:gridCol>
              </a:tblGrid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PRISM CONTROL</a:t>
                      </a:r>
                    </a:p>
                  </a:txBody>
                  <a:tcPr anchor="ctr">
                    <a:solidFill>
                      <a:srgbClr val="082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67727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Overconfident diagnosis from five answers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Confidence state + insufficient-evidence path + revisable placement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26565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Hallucinated tutor explanation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Curriculum-scoped retrieval, citation IDs, schema validation, deterministic fallback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582974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Tutor gives the answer too early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Fixed ladder: hint → error explanation → worked step → direct explanation → transfer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65381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OCR misreads handwriting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Learner confirmation before diagnosis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207494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Learner labeling / public comparison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Evidence-based wording, role-protected teacher views, no public ranking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99262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Personal data exposure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Data minimization, pseudonymous demo data, least-privilege roles, no secrets in client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652613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Connectivity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Local queue + visible sync state + eventual idempotent reconciliation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39264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E1A82115-3143-4673-9FFD-8F6A82279D86}"/>
              </a:ext>
            </a:extLst>
          </p:cNvPr>
          <p:cNvSpPr/>
          <p:nvPr/>
        </p:nvSpPr>
        <p:spPr>
          <a:xfrm>
            <a:off x="812800" y="8559800"/>
            <a:ext cx="16662400" cy="838200"/>
          </a:xfrm>
          <a:prstGeom prst="rect">
            <a:avLst/>
          </a:prstGeom>
          <a:solidFill>
            <a:srgbClr val="FFF4C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92AD43-9AFE-4938-B5E6-6309EBA86A90}"/>
              </a:ext>
            </a:extLst>
          </p:cNvPr>
          <p:cNvSpPr/>
          <p:nvPr/>
        </p:nvSpPr>
        <p:spPr>
          <a:xfrm>
            <a:off x="812800" y="8559800"/>
            <a:ext cx="88900" cy="838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CDAA01-A528-480D-A721-5727109E6801}"/>
              </a:ext>
            </a:extLst>
          </p:cNvPr>
          <p:cNvSpPr txBox="1"/>
          <p:nvPr/>
        </p:nvSpPr>
        <p:spPr>
          <a:xfrm>
            <a:off x="1117600" y="87249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00" b="1">
                <a:solidFill>
                  <a:srgbClr val="7B5A00"/>
                </a:solidFill>
                <a:latin typeface="Arial"/>
                <a:cs typeface="Arial"/>
              </a:rPr>
              <a:t>PROTOTYPE BOUNDARY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CC2A96-D974-46A1-8F77-452FC8DD7529}"/>
              </a:ext>
            </a:extLst>
          </p:cNvPr>
          <p:cNvSpPr txBox="1"/>
          <p:nvPr/>
        </p:nvSpPr>
        <p:spPr>
          <a:xfrm>
            <a:off x="4343400" y="8712200"/>
            <a:ext cx="12649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23B2C"/>
                </a:solidFill>
                <a:latin typeface="Arial"/>
                <a:cs typeface="Arial"/>
              </a:rPr>
              <a:t>PRISM demonstrates the complete decision model and user journey. Any unverified feature is labelled as planned product direction—not live capability.</a:t>
            </a:r>
            <a:endParaRPr lang="en-IN" sz="1500" b="1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172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DA90BC-2219-45B6-96D3-65D88B2266E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E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1354A-26BF-4542-9DD4-40A3FB07387F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2F7D5A"/>
                </a:solidFill>
                <a:latin typeface="Arial"/>
                <a:cs typeface="Arial"/>
              </a:rPr>
              <a:t>MARKET FIT + REAL-WORLD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3ED1B6-390E-4964-965A-28F43B6B35E9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20A64-E5E5-46F0-9D91-DDCC5F882884}"/>
              </a:ext>
            </a:extLst>
          </p:cNvPr>
          <p:cNvSpPr txBox="1"/>
          <p:nvPr/>
        </p:nvSpPr>
        <p:spPr>
          <a:xfrm>
            <a:off x="812800" y="1041400"/>
            <a:ext cx="16002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800" b="1">
                <a:solidFill>
                  <a:srgbClr val="123B2C"/>
                </a:solidFill>
                <a:latin typeface="Arial"/>
                <a:cs typeface="Arial"/>
              </a:rPr>
              <a:t>A classroom intervention layer—not a replacement LMS</a:t>
            </a:r>
            <a:endParaRPr lang="en-IN" sz="3800" b="1">
              <a:solidFill>
                <a:srgbClr val="123B2C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F499E-0082-44E5-93EB-DFC15D5A85F4}"/>
              </a:ext>
            </a:extLst>
          </p:cNvPr>
          <p:cNvSpPr txBox="1"/>
          <p:nvPr/>
        </p:nvSpPr>
        <p:spPr>
          <a:xfrm>
            <a:off x="812800" y="2159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2F7D5A"/>
                </a:solidFill>
                <a:latin typeface="Arial"/>
                <a:cs typeface="Arial"/>
              </a:rPr>
              <a:t>INITIAL USERS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020F88-3AA8-476D-9657-285FA128BC9D}"/>
              </a:ext>
            </a:extLst>
          </p:cNvPr>
          <p:cNvSpPr/>
          <p:nvPr/>
        </p:nvSpPr>
        <p:spPr>
          <a:xfrm>
            <a:off x="812800" y="2667000"/>
            <a:ext cx="5461000" cy="1117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B2022B-8802-48C9-B256-58C6C264EB1E}"/>
              </a:ext>
            </a:extLst>
          </p:cNvPr>
          <p:cNvSpPr/>
          <p:nvPr/>
        </p:nvSpPr>
        <p:spPr>
          <a:xfrm>
            <a:off x="812800" y="2667000"/>
            <a:ext cx="76200" cy="1117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EE567-D2EC-4092-B5D0-77298BE54D2C}"/>
              </a:ext>
            </a:extLst>
          </p:cNvPr>
          <p:cNvSpPr txBox="1"/>
          <p:nvPr/>
        </p:nvSpPr>
        <p:spPr>
          <a:xfrm>
            <a:off x="1092200" y="28575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GRADE 8 LEARNERS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2B4B0-F7A8-4587-BCD3-DDBAD3E9372A}"/>
              </a:ext>
            </a:extLst>
          </p:cNvPr>
          <p:cNvSpPr txBox="1"/>
          <p:nvPr/>
        </p:nvSpPr>
        <p:spPr>
          <a:xfrm>
            <a:off x="1092200" y="3200400"/>
            <a:ext cx="469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B7167"/>
                </a:solidFill>
                <a:latin typeface="Arial"/>
                <a:cs typeface="Arial"/>
              </a:rPr>
              <a:t>Immediate, non-judgmental support when stuck.</a:t>
            </a:r>
            <a:endParaRPr lang="en-IN" sz="13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6D1DBA-C2AF-48E6-96CA-0CFD5653CA87}"/>
              </a:ext>
            </a:extLst>
          </p:cNvPr>
          <p:cNvSpPr/>
          <p:nvPr/>
        </p:nvSpPr>
        <p:spPr>
          <a:xfrm>
            <a:off x="812800" y="4089400"/>
            <a:ext cx="5461000" cy="1117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EE0017-BA73-4D48-A785-6DFEB2443E0C}"/>
              </a:ext>
            </a:extLst>
          </p:cNvPr>
          <p:cNvSpPr/>
          <p:nvPr/>
        </p:nvSpPr>
        <p:spPr>
          <a:xfrm>
            <a:off x="812800" y="4089400"/>
            <a:ext cx="76200" cy="11176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20D10-13AD-4FD6-90B2-21B766C87C66}"/>
              </a:ext>
            </a:extLst>
          </p:cNvPr>
          <p:cNvSpPr txBox="1"/>
          <p:nvPr/>
        </p:nvSpPr>
        <p:spPr>
          <a:xfrm>
            <a:off x="1092200" y="42799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SUBJECT TEACHERS / TUTORS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E076E-7982-4FAC-B115-2723086D992A}"/>
              </a:ext>
            </a:extLst>
          </p:cNvPr>
          <p:cNvSpPr txBox="1"/>
          <p:nvPr/>
        </p:nvSpPr>
        <p:spPr>
          <a:xfrm>
            <a:off x="1092200" y="4622800"/>
            <a:ext cx="469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B7167"/>
                </a:solidFill>
                <a:latin typeface="Arial"/>
                <a:cs typeface="Arial"/>
              </a:rPr>
              <a:t>A short list of evidence-backed interventions instead of manual error hunting.</a:t>
            </a:r>
            <a:endParaRPr lang="en-IN" sz="13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196C9D-0109-4F21-A2B1-32A194657C1C}"/>
              </a:ext>
            </a:extLst>
          </p:cNvPr>
          <p:cNvSpPr/>
          <p:nvPr/>
        </p:nvSpPr>
        <p:spPr>
          <a:xfrm>
            <a:off x="812800" y="5511800"/>
            <a:ext cx="5461000" cy="1117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2A9ABF-AF16-4CAD-ABB7-3B720748175A}"/>
              </a:ext>
            </a:extLst>
          </p:cNvPr>
          <p:cNvSpPr/>
          <p:nvPr/>
        </p:nvSpPr>
        <p:spPr>
          <a:xfrm>
            <a:off x="812800" y="5511800"/>
            <a:ext cx="76200" cy="11176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1AE43A-82B4-4781-87AA-87984C4288EC}"/>
              </a:ext>
            </a:extLst>
          </p:cNvPr>
          <p:cNvSpPr txBox="1"/>
          <p:nvPr/>
        </p:nvSpPr>
        <p:spPr>
          <a:xfrm>
            <a:off x="1092200" y="5702300"/>
            <a:ext cx="4699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SCHOOLS + BRIDGE PROGRAMS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758FC-7A87-4017-8C36-A6C44F4255FD}"/>
              </a:ext>
            </a:extLst>
          </p:cNvPr>
          <p:cNvSpPr txBox="1"/>
          <p:nvPr/>
        </p:nvSpPr>
        <p:spPr>
          <a:xfrm>
            <a:off x="1092200" y="6045200"/>
            <a:ext cx="4699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5B7167"/>
                </a:solidFill>
                <a:latin typeface="Arial"/>
                <a:cs typeface="Arial"/>
              </a:rPr>
              <a:t>Curriculum-aligned remediation under constrained connectivity.</a:t>
            </a:r>
            <a:endParaRPr lang="en-IN" sz="13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70527F-EEB2-4E53-B1D8-86C8542CD250}"/>
              </a:ext>
            </a:extLst>
          </p:cNvPr>
          <p:cNvSpPr/>
          <p:nvPr/>
        </p:nvSpPr>
        <p:spPr>
          <a:xfrm>
            <a:off x="6731000" y="2413000"/>
            <a:ext cx="4572000" cy="4699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A8658-1001-4993-A466-87198686EDB8}"/>
              </a:ext>
            </a:extLst>
          </p:cNvPr>
          <p:cNvSpPr txBox="1"/>
          <p:nvPr/>
        </p:nvSpPr>
        <p:spPr>
          <a:xfrm>
            <a:off x="7061200" y="27559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 b="1">
                <a:solidFill>
                  <a:srgbClr val="F2C94C"/>
                </a:solidFill>
                <a:latin typeface="Arial"/>
                <a:cs typeface="Arial"/>
              </a:rPr>
              <a:t>INITIAL DEPLOYMENT WEDGE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DEFA9-5C30-4FBD-B458-13484834A1CE}"/>
              </a:ext>
            </a:extLst>
          </p:cNvPr>
          <p:cNvSpPr txBox="1"/>
          <p:nvPr/>
        </p:nvSpPr>
        <p:spPr>
          <a:xfrm>
            <a:off x="7061200" y="3390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500" b="1">
                <a:solidFill>
                  <a:srgbClr val="FFFFFF"/>
                </a:solidFill>
                <a:latin typeface="Arial"/>
                <a:cs typeface="Arial"/>
              </a:rPr>
              <a:t>ONE GRADE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5B6C31-5A8B-47AC-9D1C-3972DBC3871F}"/>
              </a:ext>
            </a:extLst>
          </p:cNvPr>
          <p:cNvSpPr txBox="1"/>
          <p:nvPr/>
        </p:nvSpPr>
        <p:spPr>
          <a:xfrm>
            <a:off x="8458200" y="3860800"/>
            <a:ext cx="1117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800" b="1">
                <a:solidFill>
                  <a:srgbClr val="A9E5C1"/>
                </a:solidFill>
                <a:latin typeface="Arial"/>
                <a:cs typeface="Arial"/>
              </a:rPr>
              <a:t>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91BDCB-D727-4D8C-B06A-B377731CB34A}"/>
              </a:ext>
            </a:extLst>
          </p:cNvPr>
          <p:cNvSpPr txBox="1"/>
          <p:nvPr/>
        </p:nvSpPr>
        <p:spPr>
          <a:xfrm>
            <a:off x="7061200" y="43434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500" b="1">
                <a:solidFill>
                  <a:srgbClr val="FFFFFF"/>
                </a:solidFill>
                <a:latin typeface="Arial"/>
                <a:cs typeface="Arial"/>
              </a:rPr>
              <a:t>ONE SUBJECT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A0AE42-89A9-4162-A5C5-73EB09A403B3}"/>
              </a:ext>
            </a:extLst>
          </p:cNvPr>
          <p:cNvSpPr txBox="1"/>
          <p:nvPr/>
        </p:nvSpPr>
        <p:spPr>
          <a:xfrm>
            <a:off x="8458200" y="4813300"/>
            <a:ext cx="1117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800" b="1">
                <a:solidFill>
                  <a:srgbClr val="A9E5C1"/>
                </a:solidFill>
                <a:latin typeface="Arial"/>
                <a:cs typeface="Arial"/>
              </a:rPr>
              <a:t>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25E784-0552-4F60-AC81-F39549A27813}"/>
              </a:ext>
            </a:extLst>
          </p:cNvPr>
          <p:cNvSpPr txBox="1"/>
          <p:nvPr/>
        </p:nvSpPr>
        <p:spPr>
          <a:xfrm>
            <a:off x="7061200" y="5295900"/>
            <a:ext cx="3937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2300" b="1">
                <a:solidFill>
                  <a:srgbClr val="FFFFFF"/>
                </a:solidFill>
                <a:latin typeface="Arial"/>
                <a:cs typeface="Arial"/>
              </a:rPr>
              <a:t>ONE HIGH-LEVERAGE
CONCEPT FAMILY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926F6A-C3DA-4C0B-87C3-49EA354AE2E2}"/>
              </a:ext>
            </a:extLst>
          </p:cNvPr>
          <p:cNvSpPr txBox="1"/>
          <p:nvPr/>
        </p:nvSpPr>
        <p:spPr>
          <a:xfrm>
            <a:off x="7112000" y="6273800"/>
            <a:ext cx="38354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D6E7DE"/>
                </a:solidFill>
                <a:latin typeface="Arial"/>
                <a:cs typeface="Arial"/>
              </a:rPr>
              <a:t>Grade 8 Math → linear equations → prerequisite repair + doubt resolution</a:t>
            </a:r>
            <a:endParaRPr lang="en-IN" sz="1300">
              <a:solidFill>
                <a:srgbClr val="D6E7DE"/>
              </a:solidFill>
              <a:latin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011248-943A-4DC2-9E41-AA8940A29FCD}"/>
              </a:ext>
            </a:extLst>
          </p:cNvPr>
          <p:cNvSpPr txBox="1"/>
          <p:nvPr/>
        </p:nvSpPr>
        <p:spPr>
          <a:xfrm>
            <a:off x="11887200" y="2159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600" b="1">
                <a:solidFill>
                  <a:srgbClr val="2F7D5A"/>
                </a:solidFill>
                <a:latin typeface="Arial"/>
                <a:cs typeface="Arial"/>
              </a:rPr>
              <a:t>RESPONSIBLE SCALE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C4CE08-7EC6-4D56-AB60-BDD6A8C19F45}"/>
              </a:ext>
            </a:extLst>
          </p:cNvPr>
          <p:cNvSpPr/>
          <p:nvPr/>
        </p:nvSpPr>
        <p:spPr>
          <a:xfrm>
            <a:off x="11887200" y="2667000"/>
            <a:ext cx="5588000" cy="1092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371450-7D58-4DC9-ADB8-328EC27B7B7A}"/>
              </a:ext>
            </a:extLst>
          </p:cNvPr>
          <p:cNvSpPr/>
          <p:nvPr/>
        </p:nvSpPr>
        <p:spPr>
          <a:xfrm>
            <a:off x="12065000" y="2882900"/>
            <a:ext cx="635000" cy="635000"/>
          </a:xfrm>
          <a:prstGeom prst="round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BBB7B7-E786-41F7-8496-4F1FA6ED6FDB}"/>
              </a:ext>
            </a:extLst>
          </p:cNvPr>
          <p:cNvSpPr txBox="1"/>
          <p:nvPr/>
        </p:nvSpPr>
        <p:spPr>
          <a:xfrm>
            <a:off x="12065000" y="30353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952807-C623-4815-BEFC-FCEFE418DB1B}"/>
              </a:ext>
            </a:extLst>
          </p:cNvPr>
          <p:cNvSpPr txBox="1"/>
          <p:nvPr/>
        </p:nvSpPr>
        <p:spPr>
          <a:xfrm>
            <a:off x="12928600" y="2832100"/>
            <a:ext cx="424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Authored curriculum packs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47EBFC-A463-43A3-A640-99BC63CF711A}"/>
              </a:ext>
            </a:extLst>
          </p:cNvPr>
          <p:cNvSpPr txBox="1"/>
          <p:nvPr/>
        </p:nvSpPr>
        <p:spPr>
          <a:xfrm>
            <a:off x="12928600" y="3149600"/>
            <a:ext cx="42418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250">
                <a:solidFill>
                  <a:srgbClr val="5B7167"/>
                </a:solidFill>
                <a:latin typeface="Arial"/>
                <a:cs typeface="Arial"/>
              </a:rPr>
              <a:t>Concepts, prerequisites, diagnostic items, misconceptions, lesson cards, hint ladders, citations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F4E043-1BE8-4CF4-AF90-165538A30BBD}"/>
              </a:ext>
            </a:extLst>
          </p:cNvPr>
          <p:cNvSpPr/>
          <p:nvPr/>
        </p:nvSpPr>
        <p:spPr>
          <a:xfrm>
            <a:off x="11887200" y="3962400"/>
            <a:ext cx="5588000" cy="1092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9245AF9-11C5-4236-B4AC-477FEA16F9FF}"/>
              </a:ext>
            </a:extLst>
          </p:cNvPr>
          <p:cNvSpPr/>
          <p:nvPr/>
        </p:nvSpPr>
        <p:spPr>
          <a:xfrm>
            <a:off x="12065000" y="4178300"/>
            <a:ext cx="635000" cy="635000"/>
          </a:xfrm>
          <a:prstGeom prst="round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3C8ECC-8995-406B-B562-90247A9BE554}"/>
              </a:ext>
            </a:extLst>
          </p:cNvPr>
          <p:cNvSpPr txBox="1"/>
          <p:nvPr/>
        </p:nvSpPr>
        <p:spPr>
          <a:xfrm>
            <a:off x="12065000" y="43307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082D22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FEF3B3-3A68-4B81-843D-35B420D60145}"/>
              </a:ext>
            </a:extLst>
          </p:cNvPr>
          <p:cNvSpPr txBox="1"/>
          <p:nvPr/>
        </p:nvSpPr>
        <p:spPr>
          <a:xfrm>
            <a:off x="12928600" y="4127500"/>
            <a:ext cx="424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Reusable platform architecture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D36CDC-A174-46A5-B98E-3686C2F533C3}"/>
              </a:ext>
            </a:extLst>
          </p:cNvPr>
          <p:cNvSpPr txBox="1"/>
          <p:nvPr/>
        </p:nvSpPr>
        <p:spPr>
          <a:xfrm>
            <a:off x="12928600" y="4445000"/>
            <a:ext cx="42418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Only the pedagogical content graph changes per subject or unit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2451A-632E-4582-9495-41A01B9ACC3B}"/>
              </a:ext>
            </a:extLst>
          </p:cNvPr>
          <p:cNvSpPr/>
          <p:nvPr/>
        </p:nvSpPr>
        <p:spPr>
          <a:xfrm>
            <a:off x="11887200" y="5257800"/>
            <a:ext cx="5588000" cy="1092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8556184-5FAA-4FA6-8BC7-F4C2828390B2}"/>
              </a:ext>
            </a:extLst>
          </p:cNvPr>
          <p:cNvSpPr/>
          <p:nvPr/>
        </p:nvSpPr>
        <p:spPr>
          <a:xfrm>
            <a:off x="12065000" y="5473700"/>
            <a:ext cx="635000" cy="635000"/>
          </a:xfrm>
          <a:prstGeom prst="round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947C13-2947-4F4F-A487-5D468B721D7C}"/>
              </a:ext>
            </a:extLst>
          </p:cNvPr>
          <p:cNvSpPr txBox="1"/>
          <p:nvPr/>
        </p:nvSpPr>
        <p:spPr>
          <a:xfrm>
            <a:off x="12065000" y="56261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5792BA-8666-4D22-8BFB-805EEFDED3D0}"/>
              </a:ext>
            </a:extLst>
          </p:cNvPr>
          <p:cNvSpPr txBox="1"/>
          <p:nvPr/>
        </p:nvSpPr>
        <p:spPr>
          <a:xfrm>
            <a:off x="12928600" y="5422900"/>
            <a:ext cx="424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Deterministic core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6E141F-7F1D-4C80-A7E5-A382A3345B8B}"/>
              </a:ext>
            </a:extLst>
          </p:cNvPr>
          <p:cNvSpPr txBox="1"/>
          <p:nvPr/>
        </p:nvSpPr>
        <p:spPr>
          <a:xfrm>
            <a:off x="12928600" y="5740400"/>
            <a:ext cx="42418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Useful without paid LLM calls or perfect connectivity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9AA780-E074-49B1-9195-BC301C3F9975}"/>
              </a:ext>
            </a:extLst>
          </p:cNvPr>
          <p:cNvSpPr/>
          <p:nvPr/>
        </p:nvSpPr>
        <p:spPr>
          <a:xfrm>
            <a:off x="11887200" y="6553200"/>
            <a:ext cx="5588000" cy="1092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28914D-72C1-4EBD-B0BA-1C76EECB40AF}"/>
              </a:ext>
            </a:extLst>
          </p:cNvPr>
          <p:cNvSpPr/>
          <p:nvPr/>
        </p:nvSpPr>
        <p:spPr>
          <a:xfrm>
            <a:off x="12065000" y="6769100"/>
            <a:ext cx="635000" cy="635000"/>
          </a:xfrm>
          <a:prstGeom prst="round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94A5BF-AE10-480F-BE46-7D55DD91D20F}"/>
              </a:ext>
            </a:extLst>
          </p:cNvPr>
          <p:cNvSpPr txBox="1"/>
          <p:nvPr/>
        </p:nvSpPr>
        <p:spPr>
          <a:xfrm>
            <a:off x="12065000" y="6921500"/>
            <a:ext cx="63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082D22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DCAA26-6946-4649-9945-176BCCA053EF}"/>
              </a:ext>
            </a:extLst>
          </p:cNvPr>
          <p:cNvSpPr txBox="1"/>
          <p:nvPr/>
        </p:nvSpPr>
        <p:spPr>
          <a:xfrm>
            <a:off x="12928600" y="6718300"/>
            <a:ext cx="4241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400" b="1">
                <a:solidFill>
                  <a:srgbClr val="123B2C"/>
                </a:solidFill>
                <a:latin typeface="Arial"/>
                <a:cs typeface="Arial"/>
              </a:rPr>
              <a:t>Teacher-compatible workflow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4BAB02-2792-42F3-BCAC-46527EC77FBA}"/>
              </a:ext>
            </a:extLst>
          </p:cNvPr>
          <p:cNvSpPr txBox="1"/>
          <p:nvPr/>
        </p:nvSpPr>
        <p:spPr>
          <a:xfrm>
            <a:off x="12928600" y="7035800"/>
            <a:ext cx="42418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5B7167"/>
                </a:solidFill>
                <a:latin typeface="Arial"/>
                <a:cs typeface="Arial"/>
              </a:rPr>
              <a:t>Recommendations fit existing instruction instead of replacing it</a:t>
            </a:r>
            <a:endParaRPr lang="en-IN" sz="125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C1C257-5551-43A0-AE61-7753CD47006C}"/>
              </a:ext>
            </a:extLst>
          </p:cNvPr>
          <p:cNvSpPr/>
          <p:nvPr/>
        </p:nvSpPr>
        <p:spPr>
          <a:xfrm>
            <a:off x="812800" y="8001000"/>
            <a:ext cx="16662400" cy="10414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AF7271-1C63-4ADC-BCBE-33DE10232089}"/>
              </a:ext>
            </a:extLst>
          </p:cNvPr>
          <p:cNvSpPr txBox="1"/>
          <p:nvPr/>
        </p:nvSpPr>
        <p:spPr>
          <a:xfrm>
            <a:off x="1117600" y="8293100"/>
            <a:ext cx="1600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23B2C"/>
                </a:solidFill>
                <a:latin typeface="Arial"/>
                <a:cs typeface="Arial"/>
              </a:rPr>
              <a:t>START NARROW. PROVE THE LOOP. EXPAND THROUGH REVIEWED CONTENT PACKS.</a:t>
            </a:r>
            <a:endParaRPr lang="en-IN" b="1">
              <a:solidFill>
                <a:srgbClr val="123B2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18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50"/>
                            </p:stCondLst>
                            <p:childTnLst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50"/>
                            </p:stCondLst>
                            <p:childTnLst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5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50"/>
                            </p:stCondLst>
                            <p:childTnLst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50"/>
                            </p:stCondLst>
                            <p:childTnLst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350"/>
                            </p:stCondLst>
                            <p:childTnLst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85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350"/>
                            </p:stCondLst>
                            <p:childTnLst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85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350"/>
                            </p:stCondLst>
                            <p:childTnLst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850"/>
                            </p:stCondLst>
                            <p:childTnLst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35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850"/>
                            </p:stCondLst>
                            <p:childTnLst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350"/>
                            </p:stCondLst>
                            <p:childTnLst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85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350"/>
                            </p:stCondLst>
                            <p:childTnLst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350"/>
                            </p:stCondLst>
                            <p:childTnLst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850"/>
                            </p:stCondLst>
                            <p:childTnLst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350"/>
                            </p:stCondLst>
                            <p:childTnLst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85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A86E09-A758-4AB7-A45F-02DA05BC44F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D8B45-FC27-4681-BB17-EB08863C1F6A}"/>
              </a:ext>
            </a:extLst>
          </p:cNvPr>
          <p:cNvSpPr txBox="1"/>
          <p:nvPr/>
        </p:nvSpPr>
        <p:spPr>
          <a:xfrm>
            <a:off x="812800" y="4318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100" b="1">
                <a:solidFill>
                  <a:srgbClr val="A9E5C1"/>
                </a:solidFill>
                <a:latin typeface="Arial"/>
                <a:cs typeface="Arial"/>
              </a:rPr>
              <a:t>WHY PRISM WINS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52C60-7ABA-4A16-8B81-457AC147B3AF}"/>
              </a:ext>
            </a:extLst>
          </p:cNvPr>
          <p:cNvSpPr/>
          <p:nvPr/>
        </p:nvSpPr>
        <p:spPr>
          <a:xfrm>
            <a:off x="812800" y="863600"/>
            <a:ext cx="406400" cy="635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C3C32-E51A-47C1-B959-DF690DF459E5}"/>
              </a:ext>
            </a:extLst>
          </p:cNvPr>
          <p:cNvSpPr txBox="1"/>
          <p:nvPr/>
        </p:nvSpPr>
        <p:spPr>
          <a:xfrm>
            <a:off x="812800" y="1041400"/>
            <a:ext cx="114300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PRISM turns evidence into action</a:t>
            </a:r>
            <a:endParaRPr lang="en-IN" sz="4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B7CB55-C6E6-4887-81D9-027D28F2E5B3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2108200"/>
          <a:ext cx="11049000" cy="6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725628542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83824817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PRISM DIFFERENTIATOR</a:t>
                      </a:r>
                    </a:p>
                  </a:txBody>
                  <a:tcPr anchor="ctr">
                    <a:solidFill>
                      <a:srgbClr val="123F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23F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43077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Starting-point diagnosis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Learners get an appropriate first action quickly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8771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Root-gap reasoning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Doubts repair misconceptions instead of repeating them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5516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Attempt-aware scaffolding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Help is calibrated; answers are not revealed prematurely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48631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Evidence graph + uncertainty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Learners and teachers can understand the recommendation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96523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Teacher intervention 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The product creates a class-level action, not just more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617997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Offline-first direction + fallback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The loop remains useful when network or LLM access fails</a:t>
                      </a:r>
                    </a:p>
                  </a:txBody>
                  <a:tcPr anchor="ctr">
                    <a:solidFill>
                      <a:srgbClr val="F0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3729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IN" sz="1250" b="1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Curriculum citations + safety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>
                          <a:solidFill>
                            <a:srgbClr val="123B2C"/>
                          </a:solidFill>
                          <a:latin typeface="Arial"/>
                          <a:cs typeface="Arial"/>
                        </a:rPr>
                        <a:t>AI support is grounded, inspectable, and safer for schools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66390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1E70D79-D101-4121-AF0B-D4F84F32490F}"/>
              </a:ext>
            </a:extLst>
          </p:cNvPr>
          <p:cNvSpPr/>
          <p:nvPr/>
        </p:nvSpPr>
        <p:spPr>
          <a:xfrm>
            <a:off x="12369800" y="2108200"/>
            <a:ext cx="5105400" cy="63500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6C31B-705F-43FB-90DF-3DDAAB2DE929}"/>
              </a:ext>
            </a:extLst>
          </p:cNvPr>
          <p:cNvSpPr/>
          <p:nvPr/>
        </p:nvSpPr>
        <p:spPr>
          <a:xfrm>
            <a:off x="12369800" y="2108200"/>
            <a:ext cx="51054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537CB-9F1C-4D67-85BA-37152D5859BA}"/>
              </a:ext>
            </a:extLst>
          </p:cNvPr>
          <p:cNvSpPr txBox="1"/>
          <p:nvPr/>
        </p:nvSpPr>
        <p:spPr>
          <a:xfrm>
            <a:off x="12598400" y="2362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2F7D5A"/>
                </a:solidFill>
                <a:latin typeface="Arial"/>
                <a:cs typeface="Arial"/>
              </a:rPr>
              <a:t>RESOLVED LEARNING ORBIT — IMAGE PLACEHOLDER</a:t>
            </a:r>
            <a:endParaRPr lang="en-IN" sz="1100" b="1">
              <a:solidFill>
                <a:srgbClr val="2F7D5A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4BFC46-5565-4F73-ABF4-31B8F4CCB535}"/>
              </a:ext>
            </a:extLst>
          </p:cNvPr>
          <p:cNvSpPr txBox="1"/>
          <p:nvPr/>
        </p:nvSpPr>
        <p:spPr>
          <a:xfrm>
            <a:off x="12750800" y="3022600"/>
            <a:ext cx="4343400" cy="508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5B7167"/>
                </a:solidFill>
                <a:latin typeface="Arial"/>
                <a:cs typeface="Arial"/>
              </a:rPr>
              <a:t>Return to the PRISM orbit: scattered learner evidence resolves into one highlighted path ending in a teacher-action card.</a:t>
            </a:r>
            <a:endParaRPr lang="en-IN" sz="1500">
              <a:solidFill>
                <a:srgbClr val="5B7167"/>
              </a:solidFill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09368-14FC-4DEC-950B-69A29723DA6A}"/>
              </a:ext>
            </a:extLst>
          </p:cNvPr>
          <p:cNvSpPr/>
          <p:nvPr/>
        </p:nvSpPr>
        <p:spPr>
          <a:xfrm>
            <a:off x="812800" y="8813800"/>
            <a:ext cx="16662400" cy="965200"/>
          </a:xfrm>
          <a:prstGeom prst="rect">
            <a:avLst/>
          </a:prstGeom>
          <a:solidFill>
            <a:srgbClr val="F2C94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D38795-4CA4-476A-A838-57D74161138D}"/>
              </a:ext>
            </a:extLst>
          </p:cNvPr>
          <p:cNvSpPr txBox="1"/>
          <p:nvPr/>
        </p:nvSpPr>
        <p:spPr>
          <a:xfrm>
            <a:off x="1117600" y="9029700"/>
            <a:ext cx="16052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082D22"/>
                </a:solidFill>
                <a:latin typeface="Arial"/>
                <a:cs typeface="Arial"/>
              </a:rPr>
              <a:t>PRISM makes the next learning step clear—for the learner who is stuck and the teacher responsible for the whole room.</a:t>
            </a:r>
            <a:endParaRPr lang="en-IN" sz="1900" b="1">
              <a:solidFill>
                <a:srgbClr val="082D22"/>
              </a:solidFill>
              <a:latin typeface="Arial"/>
              <a:cs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96D215-65B2-8618-7BC1-48B265FC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0" y="2245360"/>
            <a:ext cx="5080000" cy="622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7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50"/>
                            </p:stCondLst>
                            <p:childTnLst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5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A36649-5325-4AE6-8B80-10AF8120A5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2D2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E12A3-7D9B-4972-8B96-34C50BFE3F06}"/>
              </a:ext>
            </a:extLst>
          </p:cNvPr>
          <p:cNvSpPr txBox="1"/>
          <p:nvPr/>
        </p:nvSpPr>
        <p:spPr>
          <a:xfrm>
            <a:off x="863600" y="609600"/>
            <a:ext cx="825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A9E5C1"/>
                </a:solidFill>
                <a:latin typeface="Arial"/>
                <a:cs typeface="Arial"/>
              </a:rPr>
              <a:t>TETRATHON 2026 · EDTECH TRACK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3529E-5453-4597-A145-70B576E99CD9}"/>
              </a:ext>
            </a:extLst>
          </p:cNvPr>
          <p:cNvSpPr txBox="1"/>
          <p:nvPr/>
        </p:nvSpPr>
        <p:spPr>
          <a:xfrm>
            <a:off x="863600" y="2692400"/>
            <a:ext cx="8051800" cy="180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0" b="1">
                <a:solidFill>
                  <a:srgbClr val="FFFFFF"/>
                </a:solidFill>
                <a:latin typeface="Comic Sans MS" panose="030F0702030302020204" pitchFamily="66" charset="0"/>
                <a:cs typeface="Arial"/>
              </a:rPr>
              <a:t>THANK 	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93EEB-04CE-4800-BE18-654FFB1FED57}"/>
              </a:ext>
            </a:extLst>
          </p:cNvPr>
          <p:cNvSpPr txBox="1"/>
          <p:nvPr/>
        </p:nvSpPr>
        <p:spPr>
          <a:xfrm>
            <a:off x="914400" y="8661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Arial"/>
                <a:cs typeface="Arial"/>
              </a:rPr>
              <a:t>TEAM WEEKEND DEVS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33923D-5BBB-4289-95E3-3C0F30484C4B}"/>
              </a:ext>
            </a:extLst>
          </p:cNvPr>
          <p:cNvSpPr txBox="1"/>
          <p:nvPr/>
        </p:nvSpPr>
        <p:spPr>
          <a:xfrm>
            <a:off x="914400" y="8991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300">
                <a:solidFill>
                  <a:srgbClr val="C8DDD3"/>
                </a:solidFill>
                <a:latin typeface="Arial"/>
                <a:cs typeface="Arial"/>
              </a:rPr>
              <a:t>Mitansh Prajapati · Aryan Motiani · Dweep Desai · Pranshul Soni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300447-ECC4-4101-AEAF-026746445203}"/>
              </a:ext>
            </a:extLst>
          </p:cNvPr>
          <p:cNvSpPr/>
          <p:nvPr/>
        </p:nvSpPr>
        <p:spPr>
          <a:xfrm>
            <a:off x="11303000" y="787400"/>
            <a:ext cx="5969000" cy="6731000"/>
          </a:xfrm>
          <a:prstGeom prst="rect">
            <a:avLst/>
          </a:prstGeom>
          <a:solidFill>
            <a:srgbClr val="E6EF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2365E9-7F83-4940-9049-3365BE39BEDF}"/>
              </a:ext>
            </a:extLst>
          </p:cNvPr>
          <p:cNvSpPr/>
          <p:nvPr/>
        </p:nvSpPr>
        <p:spPr>
          <a:xfrm>
            <a:off x="11303000" y="787400"/>
            <a:ext cx="5969000" cy="76200"/>
          </a:xfrm>
          <a:prstGeom prst="rect">
            <a:avLst/>
          </a:prstGeom>
          <a:solidFill>
            <a:srgbClr val="2F7D5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B1627-5E9B-4EC7-87FF-4864126FD97F}"/>
              </a:ext>
            </a:extLst>
          </p:cNvPr>
          <p:cNvSpPr/>
          <p:nvPr/>
        </p:nvSpPr>
        <p:spPr>
          <a:xfrm>
            <a:off x="11303000" y="7874000"/>
            <a:ext cx="5969000" cy="12700"/>
          </a:xfrm>
          <a:prstGeom prst="rect">
            <a:avLst/>
          </a:prstGeom>
          <a:solidFill>
            <a:srgbClr val="41725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hlinkClick r:id="rId2"/>
            <a:extLst>
              <a:ext uri="{FF2B5EF4-FFF2-40B4-BE49-F238E27FC236}">
                <a16:creationId xmlns:a16="http://schemas.microsoft.com/office/drawing/2014/main" id="{C4628E48-FF18-466A-BCB1-BC06344328C7}"/>
              </a:ext>
            </a:extLst>
          </p:cNvPr>
          <p:cNvSpPr txBox="1"/>
          <p:nvPr/>
        </p:nvSpPr>
        <p:spPr>
          <a:xfrm>
            <a:off x="13182600" y="8894988"/>
            <a:ext cx="4572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600" b="1">
                <a:solidFill>
                  <a:srgbClr val="D8E7DF"/>
                </a:solidFill>
                <a:latin typeface="Arial"/>
                <a:cs typeface="Arial"/>
              </a:rPr>
              <a:t>Weekend-Devs</a:t>
            </a:r>
            <a:endParaRPr lang="en-IN" sz="3600" b="1">
              <a:solidFill>
                <a:srgbClr val="D8E7DF"/>
              </a:solidFill>
              <a:latin typeface="Arial"/>
              <a:cs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0B5267-81C7-1D7D-3659-F75ABEC3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1" y="863600"/>
            <a:ext cx="5969000" cy="6680200"/>
          </a:xfrm>
          <a:prstGeom prst="rect">
            <a:avLst/>
          </a:prstGeom>
        </p:spPr>
      </p:pic>
      <p:pic>
        <p:nvPicPr>
          <p:cNvPr id="32" name="Picture 31" descr="GitHub Logo and symbol, meaning, history, PNG, brand">
            <a:hlinkClick r:id="rId2"/>
            <a:extLst>
              <a:ext uri="{FF2B5EF4-FFF2-40B4-BE49-F238E27FC236}">
                <a16:creationId xmlns:a16="http://schemas.microsoft.com/office/drawing/2014/main" id="{062A767F-3091-AF8E-C593-AB8813AE6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0" y="8801100"/>
            <a:ext cx="1647801" cy="9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1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2117</Words>
  <Application>Microsoft Office PowerPoint</Application>
  <PresentationFormat>Custom</PresentationFormat>
  <Paragraphs>315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Comic Sans MS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Minimalist Professional Tech Start-Up Pitch Deck Presentation</dc:title>
  <dc:creator>Mitansh Prajapati</dc:creator>
  <cp:lastModifiedBy>Mitansh Prajapati</cp:lastModifiedBy>
  <cp:revision>1</cp:revision>
  <dcterms:created xsi:type="dcterms:W3CDTF">2006-08-16T00:00:00Z</dcterms:created>
  <dcterms:modified xsi:type="dcterms:W3CDTF">2026-07-24T13:55:47Z</dcterms:modified>
  <dc:identifier>DAHQNAjFH3E</dc:identifier>
</cp:coreProperties>
</file>